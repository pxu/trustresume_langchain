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2" r:id="rId14"/>
    <p:sldId id="263" r:id="rId15"/>
    <p:sldId id="265" r:id="rId17"/>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a question. If an AI tool writes your resume in seconds — who checks that every claim in it is actually true? Right now, nobody does. That gap is what my project closes. I'm Peng Fei Xu, and this is TrustResume, my MSAI 699 capstone: it generates a resume from real evidence, and then independently verifies every claim before delivering it. I'll cover the problem, how it works, the results, and what it means for the people who use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AI can write a convincing resume in seconds — that part is solved. The real problem is trust. Nothing stops the model from stretching the truth, and a fabricated claim looks exactly like a real one. Why does this matter? For candidates, one claim they can't back up can cost them their credibility. For employers, it means wasted time and bad hires. And for organizations, unverifiable AI content is a real legal and reputational risk. So this isn't just a technical problem — it affects everyone in hiring.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innovation — and it is NOT the tech stack. It is this one idea: every claim in the resume is independently verified against the candidate's own evidence, before the resume is delivered. Most AI tools let the model write, and then effectively trust itself. We split those two jobs. A Writer agent generates the resume. Then a completely separate Verifier checks every single claim against the evidence. The writer never grades its own homework. That independent verification layer is the whole point of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method in one picture. Two steps run once: we read the job, and we retrieve the candidate's evidence. Then a loop begins. The Writer drafts. The Verifier — our Trust Harness — scores every claim as supported, partly supported, or unsupported. An ATS check scores keyword coverage against the job. The system writes feedback from whatever is weakest, tries again, and in the end keeps the best-scoring draft, not just the last one. Generation and verification are always separate steps in that loop.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architecture walkthrough. On the left is the path a request takes: the web UI talks over HTTP to a thin API layer, which calls one application service, which calls the Orchestrator. In the middle are the six agents the Orchestrator runs in order — the green ones use no AI model at all, so retrieval and scoring are plain, testable code, not a black box. At the bottom is storage, with hybrid search that combines meaning-based and keyword search. The key design point for stakeholders: every search is scoped to one user's own data, and the scoring logic has no AI model inside it — so the trust score is deterministic and auditable.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know this works, rather than just hoping it does? Two layers. First, a 500-test automated suite at 99.2 percent coverage, checking correctness offline on every change. But correctness isn't quality, so there's a second, separate evaluation harness scoring the system against labeled ground truth: does retrieval surface the right evidence, does the Trust Harness classify claims correctly? That second question matters most, because the score a user sees comes straight from whatever the Harness reports. A verifier that marks everything supported would score perfectly and fail invisibly. So we score the verifier itself, against labeled examples, on a real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results — and the point here is that we measured, we didn't assume. Three headline numbers. One: retrieval finds the right evidence 100 percent of the time on our labeled test set. Two: the verifier is 83.3 percent accurate. And here's the honest data-analysis story behind that number — the first version scored only 50 percent, because we just told it to 'be strict' without defining what that meant. We caught that with our own evaluation harness and calibrated it up to 83.3 percent. And the dangerous error — a false claim marked as true — stayed at zero the whole time. Three: 99.2 percent test coverage, 500 automated tests on every change.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I most want you to remember. We took a backend engineer's real resume and applied it to an iOS Developer job — a candidate with zero iOS experience. Look at the two numbers. The Trust Score is 100: every claim the system made was true. The ATS match is 0: there was no matching experience, and the writer refused to invent any. So instead of faking an iOS background to pass, the system reported an honest failure. It would rather fail you than lie for you. That is the entire thesis of this project, proven on a real production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word on the engineering behind this, because it's what makes the last slide's numbers trustworthy rather than lucky. 500 automated tests, over 99 percent coverage, enforced on every change through continuous integration. Every generation is also instrumented: tokens, time, and dollar cost per step, which in practice runs about 50 to 60 cents per résumé. And I'll be candid: several of the most important bugs, like a real model's output crashing the PDF export, or a cost-reporting gap that silently hid Bedrock's real cost, only showed up running the actual system against a real model. No unit test caught them, which is why we kept real end-to-end testing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quick things, because this touches real careers. First, responsible design: every outside input is treated as data, never as an instruction, which defends against prompt injection; every user's data is isolated; and the same verification that catches fabrication also keeps the system fair — it won't reward whoever embellishes best. Second, what's next, in four areas: real authentication and security; better retrieval with a relevance threshold; higher trust accuracy from a larger labeled dataset; and scalability plus more export languages. I'll be honest — real login isn't built yet, and it's the top priority.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what's next? First, real authentication and rate limiting, needed before this serves multiple real customers safely. Second, a relevance threshold on retrieval, so a question with no good answer returns fewer results instead of forcing a full set. Third, growing the labeled dataset around the two specific claim types the verifier still occasionally misjudges. And fourth, broader language support on export, plus a clear path to scale beyond a single server. None of this is open research. It's concrete, scoped engineering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big idea is simple: AI-generated content can be useful without sacrificing trust — and the key is independent verification. We didn't just claim that; we proved it on a real model that chose an honest score over a fabricated resume. For candidates, that means a resume they can stand behind. For employers, claims they can actually trust. And this pattern — grounded generation plus independent verification — reaches far beyond resumes, to any AI-generated content where the truth matters. Thank you.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time. I'd be glad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10332720" cy="1463040"/>
          </a:xfrm>
          <a:prstGeom prst="rect">
            <a:avLst/>
          </a:prstGeom>
          <a:noFill/>
        </p:spPr>
        <p:txBody>
          <a:bodyPr wrap="square">
            <a:spAutoFit/>
          </a:bodyPr>
          <a:lstStyle/>
          <a:p>
            <a:r>
              <a:rPr sz="5400" b="1" i="0">
                <a:solidFill>
                  <a:srgbClr val="FFFFFF"/>
                </a:solidFill>
                <a:latin typeface="Calibri"/>
              </a:rPr>
              <a:t>TrustResume</a:t>
            </a:r>
          </a:p>
        </p:txBody>
      </p:sp>
      <p:sp>
        <p:nvSpPr>
          <p:cNvPr id="4" name="TextBox 3"/>
          <p:cNvSpPr txBox="1"/>
          <p:nvPr/>
        </p:nvSpPr>
        <p:spPr>
          <a:xfrm>
            <a:off x="914400" y="3383280"/>
            <a:ext cx="10332720" cy="914400"/>
          </a:xfrm>
          <a:prstGeom prst="rect">
            <a:avLst/>
          </a:prstGeom>
          <a:noFill/>
        </p:spPr>
        <p:txBody>
          <a:bodyPr wrap="square">
            <a:spAutoFit/>
          </a:bodyPr>
          <a:lstStyle/>
          <a:p>
            <a:r>
              <a:rPr sz="2200" b="0" i="0">
                <a:solidFill>
                  <a:srgbClr val="FFFFFF"/>
                </a:solidFill>
                <a:latin typeface="Calibri"/>
              </a:rPr>
              <a:t>Evidence-Based Resume Generation Using RAG, Multi-Agent AI, and Trust Verification</a:t>
            </a:r>
          </a:p>
        </p:txBody>
      </p:sp>
      <p:sp>
        <p:nvSpPr>
          <p:cNvPr id="5" name="TextBox 4"/>
          <p:cNvSpPr txBox="1"/>
          <p:nvPr/>
        </p:nvSpPr>
        <p:spPr>
          <a:xfrm>
            <a:off x="914400" y="5120640"/>
            <a:ext cx="10332720" cy="914400"/>
          </a:xfrm>
          <a:prstGeom prst="rect">
            <a:avLst/>
          </a:prstGeom>
          <a:noFill/>
        </p:spPr>
        <p:txBody>
          <a:bodyPr wrap="square">
            <a:spAutoFit/>
          </a:bodyPr>
          <a:lstStyle/>
          <a:p>
            <a:r>
              <a:rPr sz="1600" b="0" i="0">
                <a:solidFill>
                  <a:srgbClr val="E3EAF7"/>
                </a:solidFill>
                <a:latin typeface="Calibri"/>
              </a:rPr>
              <a:t>Peng Fei Xu  |  MSAI 699 Capstone Final Presentation  |  University of the Cumberlands</a:t>
            </a:r>
          </a:p>
        </p:txBody>
      </p:sp>
      <p:sp>
        <p:nvSpPr>
          <p:cNvPr id="6" name="Rounded Rectangle 5"/>
          <p:cNvSpPr/>
          <p:nvPr/>
        </p:nvSpPr>
        <p:spPr>
          <a:xfrm>
            <a:off x="914400" y="4370832"/>
            <a:ext cx="10332720" cy="7132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70832"/>
            <a:ext cx="10332720" cy="713232"/>
          </a:xfrm>
          <a:prstGeom prst="rect">
            <a:avLst/>
          </a:prstGeom>
          <a:noFill/>
        </p:spPr>
        <p:txBody>
          <a:bodyPr wrap="square" anchor="ctr" tIns="27432" bIns="27432">
            <a:spAutoFit/>
          </a:bodyPr>
          <a:lstStyle/>
          <a:p>
            <a:pPr algn="ctr"/>
            <a:r>
              <a:rPr sz="2200" b="1" i="1">
                <a:solidFill>
                  <a:srgbClr val="4C72B0"/>
                </a:solidFill>
                <a:latin typeface="Calibri"/>
              </a:rPr>
              <a:t>If AI writes your resume — who verifies that every claim is true?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DD84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The Problem — and Why It Matters</a:t>
            </a:r>
          </a:p>
        </p:txBody>
      </p:sp>
      <p:sp>
        <p:nvSpPr>
          <p:cNvPr id="6" name="TextBox 5"/>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Final Presentation</a:t>
            </a:r>
          </a:p>
        </p:txBody>
      </p:sp>
      <p:sp>
        <p:nvSpPr>
          <p:cNvPr id="7" name="TextBox 6"/>
          <p:cNvSpPr txBox="1"/>
          <p:nvPr/>
        </p:nvSpPr>
        <p:spPr>
          <a:xfrm>
            <a:off x="640080" y="1298448"/>
            <a:ext cx="10908792" cy="1417320"/>
          </a:xfrm>
          <a:prstGeom prst="rect">
            <a:avLst/>
          </a:prstGeom>
          <a:noFill/>
        </p:spPr>
        <p:txBody>
          <a:bodyPr wrap="square" anchor="t" tIns="27432" bIns="27432">
            <a:spAutoFit/>
          </a:bodyPr>
          <a:lstStyle/>
          <a:p>
            <a:pPr algn="l">
              <a:lnSpc>
                <a:spcPct val="105000"/>
              </a:lnSpc>
            </a:pPr>
            <a:r>
              <a:rPr sz="2000" b="0" i="0">
                <a:solidFill>
                  <a:srgbClr val="2A2A2A"/>
                </a:solidFill>
                <a:latin typeface="Calibri"/>
              </a:rPr>
              <a:t>•  Generative AI writes a polished resume in seconds — but nothing stops it from overstating scope, seniority, or a metric.</a:t>
            </a:r>
          </a:p>
          <a:p>
            <a:pPr algn="l">
              <a:lnSpc>
                <a:spcPct val="105000"/>
              </a:lnSpc>
            </a:pPr>
            <a:r>
              <a:rPr sz="2000" b="0" i="0">
                <a:solidFill>
                  <a:srgbClr val="2A2A2A"/>
                </a:solidFill>
                <a:latin typeface="Calibri"/>
              </a:rPr>
              <a:t>•  A fabricated claim looks identical to a real one. There is no built-in way to tell them apart.</a:t>
            </a:r>
          </a:p>
        </p:txBody>
      </p:sp>
      <p:sp>
        <p:nvSpPr>
          <p:cNvPr id="8" name="TextBox 7"/>
          <p:cNvSpPr txBox="1"/>
          <p:nvPr/>
        </p:nvSpPr>
        <p:spPr>
          <a:xfrm>
            <a:off x="640080" y="2788920"/>
            <a:ext cx="10908792" cy="457200"/>
          </a:xfrm>
          <a:prstGeom prst="rect">
            <a:avLst/>
          </a:prstGeom>
          <a:noFill/>
        </p:spPr>
        <p:txBody>
          <a:bodyPr wrap="square" anchor="t" tIns="27432" bIns="27432">
            <a:spAutoFit/>
          </a:bodyPr>
          <a:lstStyle/>
          <a:p>
            <a:pPr algn="l"/>
            <a:r>
              <a:rPr sz="2000" b="1" i="0">
                <a:solidFill>
                  <a:srgbClr val="DD8452"/>
                </a:solidFill>
                <a:latin typeface="Calibri"/>
              </a:rPr>
              <a:t>Why it matters — to everyone in hiring:</a:t>
            </a:r>
          </a:p>
        </p:txBody>
      </p:sp>
      <p:sp>
        <p:nvSpPr>
          <p:cNvPr id="9" name="Rounded Rectangle 8"/>
          <p:cNvSpPr/>
          <p:nvPr/>
        </p:nvSpPr>
        <p:spPr>
          <a:xfrm>
            <a:off x="640080" y="3310128"/>
            <a:ext cx="3419856" cy="2331720"/>
          </a:xfrm>
          <a:prstGeom prst="roundRect">
            <a:avLst>
              <a:gd name="adj" fmla="val 6000"/>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474720"/>
            <a:ext cx="3200400" cy="2011680"/>
          </a:xfrm>
          <a:prstGeom prst="rect">
            <a:avLst/>
          </a:prstGeom>
          <a:noFill/>
        </p:spPr>
        <p:txBody>
          <a:bodyPr wrap="square" anchor="t" tIns="27432" bIns="27432">
            <a:spAutoFit/>
          </a:bodyPr>
          <a:lstStyle/>
          <a:p>
            <a:pPr algn="l">
              <a:lnSpc>
                <a:spcPct val="105000"/>
              </a:lnSpc>
            </a:pPr>
            <a:r>
              <a:rPr sz="2200" b="1" i="0">
                <a:solidFill>
                  <a:srgbClr val="4C72B0"/>
                </a:solidFill>
                <a:latin typeface="Calibri"/>
              </a:rPr>
              <a:t>Candidates</a:t>
            </a:r>
          </a:p>
          <a:p>
            <a:pPr algn="l">
              <a:lnSpc>
                <a:spcPct val="105000"/>
              </a:lnSpc>
            </a:pPr>
            <a:r>
              <a:rPr sz="600" b="0" i="0">
                <a:solidFill>
                  <a:srgbClr val="2A2A2A"/>
                </a:solidFill>
                <a:latin typeface="Calibri"/>
              </a:rPr>
              <a:t/>
            </a:r>
          </a:p>
          <a:p>
            <a:pPr algn="l">
              <a:lnSpc>
                <a:spcPct val="105000"/>
              </a:lnSpc>
            </a:pPr>
            <a:r>
              <a:rPr sz="1700" b="0" i="0">
                <a:solidFill>
                  <a:srgbClr val="2A2A2A"/>
                </a:solidFill>
                <a:latin typeface="Calibri"/>
              </a:rPr>
              <a:t>Lose credibility when a claim can’t be backed up.</a:t>
            </a:r>
          </a:p>
        </p:txBody>
      </p:sp>
      <p:sp>
        <p:nvSpPr>
          <p:cNvPr id="11" name="Rounded Rectangle 10"/>
          <p:cNvSpPr/>
          <p:nvPr/>
        </p:nvSpPr>
        <p:spPr>
          <a:xfrm>
            <a:off x="4384548" y="3310128"/>
            <a:ext cx="3419856" cy="2331720"/>
          </a:xfrm>
          <a:prstGeom prst="roundRect">
            <a:avLst>
              <a:gd name="adj" fmla="val 6000"/>
            </a:avLst>
          </a:prstGeom>
          <a:solidFill>
            <a:srgbClr val="E6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4276" y="3474720"/>
            <a:ext cx="3200400" cy="2011680"/>
          </a:xfrm>
          <a:prstGeom prst="rect">
            <a:avLst/>
          </a:prstGeom>
          <a:noFill/>
        </p:spPr>
        <p:txBody>
          <a:bodyPr wrap="square" anchor="t" tIns="27432" bIns="27432">
            <a:spAutoFit/>
          </a:bodyPr>
          <a:lstStyle/>
          <a:p>
            <a:pPr algn="l">
              <a:lnSpc>
                <a:spcPct val="105000"/>
              </a:lnSpc>
            </a:pPr>
            <a:r>
              <a:rPr sz="2200" b="1" i="0">
                <a:solidFill>
                  <a:srgbClr val="4F935F"/>
                </a:solidFill>
                <a:latin typeface="Calibri"/>
              </a:rPr>
              <a:t>Employers</a:t>
            </a:r>
          </a:p>
          <a:p>
            <a:pPr algn="l">
              <a:lnSpc>
                <a:spcPct val="105000"/>
              </a:lnSpc>
            </a:pPr>
            <a:r>
              <a:rPr sz="600" b="0" i="0">
                <a:solidFill>
                  <a:srgbClr val="2A2A2A"/>
                </a:solidFill>
                <a:latin typeface="Calibri"/>
              </a:rPr>
              <a:t/>
            </a:r>
          </a:p>
          <a:p>
            <a:pPr algn="l">
              <a:lnSpc>
                <a:spcPct val="105000"/>
              </a:lnSpc>
            </a:pPr>
            <a:r>
              <a:rPr sz="1700" b="0" i="0">
                <a:solidFill>
                  <a:srgbClr val="2A2A2A"/>
                </a:solidFill>
                <a:latin typeface="Calibri"/>
              </a:rPr>
              <a:t>Waste time and money on bad hires.</a:t>
            </a:r>
          </a:p>
        </p:txBody>
      </p:sp>
      <p:sp>
        <p:nvSpPr>
          <p:cNvPr id="13" name="Rounded Rectangle 12"/>
          <p:cNvSpPr/>
          <p:nvPr/>
        </p:nvSpPr>
        <p:spPr>
          <a:xfrm>
            <a:off x="8129016" y="3310128"/>
            <a:ext cx="3419856" cy="2331720"/>
          </a:xfrm>
          <a:prstGeom prst="roundRect">
            <a:avLst>
              <a:gd name="adj" fmla="val 6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8744" y="3474720"/>
            <a:ext cx="3200400" cy="2011680"/>
          </a:xfrm>
          <a:prstGeom prst="rect">
            <a:avLst/>
          </a:prstGeom>
          <a:noFill/>
        </p:spPr>
        <p:txBody>
          <a:bodyPr wrap="square" anchor="t" tIns="27432" bIns="27432">
            <a:spAutoFit/>
          </a:bodyPr>
          <a:lstStyle/>
          <a:p>
            <a:pPr algn="l">
              <a:lnSpc>
                <a:spcPct val="105000"/>
              </a:lnSpc>
            </a:pPr>
            <a:r>
              <a:rPr sz="2200" b="1" i="0">
                <a:solidFill>
                  <a:srgbClr val="DD8452"/>
                </a:solidFill>
                <a:latin typeface="Calibri"/>
              </a:rPr>
              <a:t>Organizations</a:t>
            </a:r>
          </a:p>
          <a:p>
            <a:pPr algn="l">
              <a:lnSpc>
                <a:spcPct val="105000"/>
              </a:lnSpc>
            </a:pPr>
            <a:r>
              <a:rPr sz="600" b="0" i="0">
                <a:solidFill>
                  <a:srgbClr val="2A2A2A"/>
                </a:solidFill>
                <a:latin typeface="Calibri"/>
              </a:rPr>
              <a:t/>
            </a:r>
          </a:p>
          <a:p>
            <a:pPr algn="l">
              <a:lnSpc>
                <a:spcPct val="105000"/>
              </a:lnSpc>
            </a:pPr>
            <a:r>
              <a:rPr sz="1700" b="0" i="0">
                <a:solidFill>
                  <a:srgbClr val="2A2A2A"/>
                </a:solidFill>
                <a:latin typeface="Calibri"/>
              </a:rPr>
              <a:t>Face legal &amp; reputational risk from unverifiable AI content.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The Innovation: Generate First, Verify Independently</a:t>
            </a:r>
          </a:p>
        </p:txBody>
      </p:sp>
      <p:sp>
        <p:nvSpPr>
          <p:cNvPr id="6" name="TextBox 5"/>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Final Presentation</a:t>
            </a:r>
          </a:p>
        </p:txBody>
      </p:sp>
      <p:sp>
        <p:nvSpPr>
          <p:cNvPr id="7" name="Rounded Rectangle 6"/>
          <p:cNvSpPr/>
          <p:nvPr/>
        </p:nvSpPr>
        <p:spPr>
          <a:xfrm>
            <a:off x="640080" y="1298448"/>
            <a:ext cx="10908792" cy="932688"/>
          </a:xfrm>
          <a:prstGeom prst="roundRect">
            <a:avLst>
              <a:gd name="adj" fmla="val 6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298448"/>
            <a:ext cx="10634472" cy="932688"/>
          </a:xfrm>
          <a:prstGeom prst="rect">
            <a:avLst/>
          </a:prstGeom>
          <a:noFill/>
        </p:spPr>
        <p:txBody>
          <a:bodyPr wrap="square" anchor="ctr" tIns="27432" bIns="27432">
            <a:spAutoFit/>
          </a:bodyPr>
          <a:lstStyle/>
          <a:p>
            <a:pPr algn="ctr">
              <a:lnSpc>
                <a:spcPct val="100000"/>
              </a:lnSpc>
            </a:pPr>
            <a:r>
              <a:rPr sz="2200" b="1" i="0">
                <a:solidFill>
                  <a:srgbClr val="2A2A2A"/>
                </a:solidFill>
                <a:latin typeface="Calibri"/>
              </a:rPr>
              <a:t>Every claim is independently verified against the candidate’s own evidence — before the resume is delivered.</a:t>
            </a:r>
          </a:p>
        </p:txBody>
      </p:sp>
      <p:sp>
        <p:nvSpPr>
          <p:cNvPr id="9" name="Rounded Rectangle 8"/>
          <p:cNvSpPr/>
          <p:nvPr/>
        </p:nvSpPr>
        <p:spPr>
          <a:xfrm>
            <a:off x="914400" y="2606040"/>
            <a:ext cx="4160520" cy="1554480"/>
          </a:xfrm>
          <a:prstGeom prst="roundRect">
            <a:avLst>
              <a:gd name="adj" fmla="val 6000"/>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06040"/>
            <a:ext cx="3977639" cy="1554480"/>
          </a:xfrm>
          <a:prstGeom prst="rect">
            <a:avLst/>
          </a:prstGeom>
          <a:noFill/>
        </p:spPr>
        <p:txBody>
          <a:bodyPr wrap="square" anchor="ctr" tIns="27432" bIns="27432">
            <a:spAutoFit/>
          </a:bodyPr>
          <a:lstStyle/>
          <a:p>
            <a:pPr algn="ctr">
              <a:lnSpc>
                <a:spcPct val="100000"/>
              </a:lnSpc>
            </a:pPr>
            <a:r>
              <a:rPr sz="2200" b="1" i="0">
                <a:solidFill>
                  <a:srgbClr val="4C72B0"/>
                </a:solidFill>
                <a:latin typeface="Calibri"/>
              </a:rPr>
              <a:t>Writer Agent</a:t>
            </a:r>
          </a:p>
          <a:p>
            <a:pPr algn="ctr">
              <a:lnSpc>
                <a:spcPct val="100000"/>
              </a:lnSpc>
            </a:pPr>
            <a:r>
              <a:rPr sz="1700" b="0" i="0">
                <a:solidFill>
                  <a:srgbClr val="2A2A2A"/>
                </a:solidFill>
                <a:latin typeface="Calibri"/>
              </a:rPr>
              <a:t>Generates the resume</a:t>
            </a:r>
          </a:p>
        </p:txBody>
      </p:sp>
      <p:sp>
        <p:nvSpPr>
          <p:cNvPr id="11" name="Right Arrow 10"/>
          <p:cNvSpPr/>
          <p:nvPr/>
        </p:nvSpPr>
        <p:spPr>
          <a:xfrm>
            <a:off x="5230368" y="3127248"/>
            <a:ext cx="914400" cy="530352"/>
          </a:xfrm>
          <a:prstGeom prst="rightArrow">
            <a:avLst/>
          </a:prstGeom>
          <a:solidFill>
            <a:srgbClr val="DD84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9360" y="2606040"/>
            <a:ext cx="4965192" cy="1554480"/>
          </a:xfrm>
          <a:prstGeom prst="roundRect">
            <a:avLst>
              <a:gd name="adj" fmla="val 6000"/>
            </a:avLst>
          </a:prstGeom>
          <a:solidFill>
            <a:srgbClr val="E6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606040"/>
            <a:ext cx="4782312" cy="1554480"/>
          </a:xfrm>
          <a:prstGeom prst="rect">
            <a:avLst/>
          </a:prstGeom>
          <a:noFill/>
        </p:spPr>
        <p:txBody>
          <a:bodyPr wrap="square" anchor="ctr" tIns="27432" bIns="27432">
            <a:spAutoFit/>
          </a:bodyPr>
          <a:lstStyle/>
          <a:p>
            <a:pPr algn="ctr">
              <a:lnSpc>
                <a:spcPct val="100000"/>
              </a:lnSpc>
            </a:pPr>
            <a:r>
              <a:rPr sz="2200" b="1" i="0">
                <a:solidFill>
                  <a:srgbClr val="4F935F"/>
                </a:solidFill>
                <a:latin typeface="Calibri"/>
              </a:rPr>
              <a:t>Independent Verifier</a:t>
            </a:r>
          </a:p>
          <a:p>
            <a:pPr algn="ctr">
              <a:lnSpc>
                <a:spcPct val="100000"/>
              </a:lnSpc>
            </a:pPr>
            <a:r>
              <a:rPr sz="1700" b="0" i="0">
                <a:solidFill>
                  <a:srgbClr val="2A2A2A"/>
                </a:solidFill>
                <a:latin typeface="Calibri"/>
              </a:rPr>
              <a:t>Checks every claim against the evidence</a:t>
            </a:r>
          </a:p>
        </p:txBody>
      </p:sp>
      <p:sp>
        <p:nvSpPr>
          <p:cNvPr id="14" name="TextBox 13"/>
          <p:cNvSpPr txBox="1"/>
          <p:nvPr/>
        </p:nvSpPr>
        <p:spPr>
          <a:xfrm>
            <a:off x="640080" y="4389120"/>
            <a:ext cx="10908792" cy="640080"/>
          </a:xfrm>
          <a:prstGeom prst="rect">
            <a:avLst/>
          </a:prstGeom>
          <a:noFill/>
        </p:spPr>
        <p:txBody>
          <a:bodyPr wrap="square" anchor="ctr" tIns="27432" bIns="27432">
            <a:spAutoFit/>
          </a:bodyPr>
          <a:lstStyle/>
          <a:p>
            <a:pPr algn="ctr"/>
            <a:r>
              <a:rPr sz="2400" b="1" i="0">
                <a:solidFill>
                  <a:srgbClr val="C44E52"/>
                </a:solidFill>
                <a:latin typeface="Calibri"/>
              </a:rPr>
              <a:t>✗  </a:t>
            </a:r>
            <a:r>
              <a:rPr sz="2400" b="1" i="0">
                <a:solidFill>
                  <a:srgbClr val="2A2A2A"/>
                </a:solidFill>
                <a:latin typeface="Calibri"/>
              </a:rPr>
              <a:t>The Writer never verifies its own claims.</a:t>
            </a:r>
          </a:p>
        </p:txBody>
      </p:sp>
      <p:sp>
        <p:nvSpPr>
          <p:cNvPr id="15" name="Rounded Rectangle 14"/>
          <p:cNvSpPr/>
          <p:nvPr/>
        </p:nvSpPr>
        <p:spPr>
          <a:xfrm>
            <a:off x="3712463" y="5138928"/>
            <a:ext cx="4754880" cy="566928"/>
          </a:xfrm>
          <a:prstGeom prst="roundRect">
            <a:avLst>
              <a:gd name="adj" fmla="val 6000"/>
            </a:avLst>
          </a:prstGeom>
          <a:solidFill>
            <a:srgbClr val="DD84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2463" y="5138928"/>
            <a:ext cx="4754880" cy="566928"/>
          </a:xfrm>
          <a:prstGeom prst="rect">
            <a:avLst/>
          </a:prstGeom>
          <a:noFill/>
        </p:spPr>
        <p:txBody>
          <a:bodyPr wrap="square" anchor="ctr" tIns="27432" bIns="27432">
            <a:spAutoFit/>
          </a:bodyPr>
          <a:lstStyle/>
          <a:p>
            <a:pPr algn="ctr"/>
            <a:r>
              <a:rPr sz="1800" b="1" i="0">
                <a:solidFill>
                  <a:srgbClr val="FFFFFF"/>
                </a:solidFill>
                <a:latin typeface="Calibri"/>
              </a:rPr>
              <a:t>Independent Verification Layer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How It Works: Six Agents, One Quality Loop</a:t>
            </a:r>
          </a:p>
        </p:txBody>
      </p:sp>
      <p:pic>
        <p:nvPicPr>
          <p:cNvPr id="5" name="Picture 4" descr="fig1_pipeline.png"/>
          <p:cNvPicPr>
            <a:picLocks noChangeAspect="1"/>
          </p:cNvPicPr>
          <p:nvPr/>
        </p:nvPicPr>
        <p:blipFill>
          <a:blip r:embed="rId2"/>
          <a:stretch>
            <a:fillRect/>
          </a:stretch>
        </p:blipFill>
        <p:spPr>
          <a:xfrm>
            <a:off x="1295247" y="1325880"/>
            <a:ext cx="9601200" cy="4800600"/>
          </a:xfrm>
          <a:prstGeom prst="rect">
            <a:avLst/>
          </a:prstGeom>
        </p:spPr>
      </p:pic>
      <p:sp>
        <p:nvSpPr>
          <p:cNvPr id="6" name="TextBox 5"/>
          <p:cNvSpPr txBox="1"/>
          <p:nvPr/>
        </p:nvSpPr>
        <p:spPr>
          <a:xfrm>
            <a:off x="640080" y="6217920"/>
            <a:ext cx="10911535" cy="457200"/>
          </a:xfrm>
          <a:prstGeom prst="rect">
            <a:avLst/>
          </a:prstGeom>
          <a:noFill/>
        </p:spPr>
        <p:txBody>
          <a:bodyPr wrap="square">
            <a:spAutoFit/>
          </a:bodyPr>
          <a:lstStyle/>
          <a:p>
            <a:pPr algn="ctr"/>
            <a:r>
              <a:rPr sz="1400" b="0" i="1">
                <a:solidFill>
                  <a:srgbClr val="6B6B6B"/>
                </a:solidFill>
                <a:latin typeface="Calibri"/>
              </a:rPr>
              <a:t>The Writer drafts, the Verifier and an ATS check score it, the system rewrites — then keeps the best-scoring draft.</a:t>
            </a:r>
          </a:p>
        </p:txBody>
      </p:sp>
      <p:sp>
        <p:nvSpPr>
          <p:cNvPr id="7" name="TextBox 6"/>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Final Presentation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System Architecture: How the Pieces Fit</a:t>
            </a:r>
          </a:p>
        </p:txBody>
      </p:sp>
      <p:sp>
        <p:nvSpPr>
          <p:cNvPr id="6" name="TextBox 5"/>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Final Presentation</a:t>
            </a:r>
          </a:p>
        </p:txBody>
      </p:sp>
      <p:pic>
        <p:nvPicPr>
          <p:cNvPr id="7" name="Picture 6" descr="01_system_overview.png"/>
          <p:cNvPicPr>
            <a:picLocks noChangeAspect="1"/>
          </p:cNvPicPr>
          <p:nvPr/>
        </p:nvPicPr>
        <p:blipFill>
          <a:blip r:embed="rId3"/>
          <a:stretch>
            <a:fillRect/>
          </a:stretch>
        </p:blipFill>
        <p:spPr>
          <a:xfrm>
            <a:off x="2900316" y="1371600"/>
            <a:ext cx="6391063" cy="48920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How We Know It Works: Measuring, Not Assuming</a:t>
            </a:r>
          </a:p>
        </p:txBody>
      </p:sp>
      <p:sp>
        <p:nvSpPr>
          <p:cNvPr id="5" name="TextBox 4"/>
          <p:cNvSpPr txBox="1"/>
          <p:nvPr/>
        </p:nvSpPr>
        <p:spPr>
          <a:xfrm>
            <a:off x="640080" y="1417320"/>
            <a:ext cx="10911535" cy="4846320"/>
          </a:xfrm>
          <a:prstGeom prst="rect">
            <a:avLst/>
          </a:prstGeom>
          <a:noFill/>
        </p:spPr>
        <p:txBody>
          <a:bodyPr wrap="square">
            <a:spAutoFit/>
          </a:bodyPr>
          <a:lstStyle/>
          <a:p>
            <a:pPr>
              <a:spcAft>
                <a:spcPts val="1400"/>
              </a:spcAft>
            </a:pPr>
            <a:r>
              <a:rPr sz="2000" b="0" i="0">
                <a:solidFill>
                  <a:srgbClr val="2A2A2A"/>
                </a:solidFill>
                <a:latin typeface="Calibri"/>
              </a:rPr>
              <a:t>•  An automated test suite (500 tests, 99.2% coverage) checks correctness on every change, offline, with no live model needed.</a:t>
            </a:r>
          </a:p>
          <a:p>
            <a:pPr>
              <a:spcAft>
                <a:spcPts val="1400"/>
              </a:spcAft>
            </a:pPr>
            <a:r>
              <a:rPr sz="2000" b="0" i="0">
                <a:solidFill>
                  <a:srgbClr val="2A2A2A"/>
                </a:solidFill>
                <a:latin typeface="Calibri"/>
              </a:rPr>
              <a:t>•  A separate offline evaluation harness checks quality: does retrieval actually find the right evidence, and does the Trust Harness actually classify claims correctly?</a:t>
            </a:r>
          </a:p>
          <a:p>
            <a:pPr>
              <a:spcAft>
                <a:spcPts val="1400"/>
              </a:spcAft>
            </a:pPr>
            <a:r>
              <a:rPr sz="2000" b="0" i="0">
                <a:solidFill>
                  <a:srgbClr val="2A2A2A"/>
                </a:solidFill>
                <a:latin typeface="Calibri"/>
              </a:rPr>
              <a:t>•  That second check matters because the runtime Trust score is computed from whatever the Trust Harness reports. A harness that rubber-stamps everything would score perfectly and fail invisibly.</a:t>
            </a:r>
          </a:p>
          <a:p>
            <a:pPr>
              <a:spcAft>
                <a:spcPts val="1400"/>
              </a:spcAft>
            </a:pPr>
            <a:r>
              <a:rPr sz="2000" b="0" i="0">
                <a:solidFill>
                  <a:srgbClr val="2A2A2A"/>
                </a:solidFill>
                <a:latin typeface="Calibri"/>
              </a:rPr>
              <a:t>•  Both suites run against hand-labeled ground truth, and the Trust Harness suite is scored against a real, production model, not a stand-in.</a:t>
            </a:r>
          </a:p>
        </p:txBody>
      </p:sp>
      <p:sp>
        <p:nvSpPr>
          <p:cNvPr id="6" name="TextBox 5"/>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Final Presentation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Results: Measured, Not Assumed</a:t>
            </a:r>
          </a:p>
        </p:txBody>
      </p:sp>
      <p:sp>
        <p:nvSpPr>
          <p:cNvPr id="7" name="TextBox 6"/>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Final Presentation</a:t>
            </a:r>
          </a:p>
        </p:txBody>
      </p:sp>
      <p:sp>
        <p:nvSpPr>
          <p:cNvPr id="8" name="Rounded Rectangle 7"/>
          <p:cNvSpPr/>
          <p:nvPr/>
        </p:nvSpPr>
        <p:spPr>
          <a:xfrm>
            <a:off x="640080" y="1691640"/>
            <a:ext cx="3419856" cy="2468880"/>
          </a:xfrm>
          <a:prstGeom prst="roundRect">
            <a:avLst>
              <a:gd name="adj" fmla="val 6000"/>
            </a:avLst>
          </a:prstGeom>
          <a:solidFill>
            <a:srgbClr val="E9EFF8"/>
          </a:solidFill>
          <a:ln w="15875">
            <a:solidFill>
              <a:srgbClr val="C7D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19" y="1783080"/>
            <a:ext cx="3236976" cy="2286000"/>
          </a:xfrm>
          <a:prstGeom prst="rect">
            <a:avLst/>
          </a:prstGeom>
          <a:noFill/>
        </p:spPr>
        <p:txBody>
          <a:bodyPr wrap="square" anchor="ctr" tIns="27432" bIns="27432">
            <a:spAutoFit/>
          </a:bodyPr>
          <a:lstStyle/>
          <a:p>
            <a:pPr algn="ctr">
              <a:lnSpc>
                <a:spcPct val="100000"/>
              </a:lnSpc>
            </a:pPr>
            <a:r>
              <a:rPr sz="6000" b="1" i="0">
                <a:solidFill>
                  <a:srgbClr val="4F935F"/>
                </a:solidFill>
                <a:latin typeface="Calibri"/>
              </a:rPr>
              <a:t>100%</a:t>
            </a:r>
          </a:p>
          <a:p>
            <a:pPr algn="ctr">
              <a:lnSpc>
                <a:spcPct val="100000"/>
              </a:lnSpc>
            </a:pPr>
            <a:r>
              <a:rPr sz="1800" b="1" i="0">
                <a:solidFill>
                  <a:srgbClr val="2A2A2A"/>
                </a:solidFill>
                <a:latin typeface="Calibri"/>
              </a:rPr>
              <a:t>Retrieval Recall@8</a:t>
            </a:r>
          </a:p>
          <a:p>
            <a:pPr algn="ctr">
              <a:lnSpc>
                <a:spcPct val="100000"/>
              </a:lnSpc>
            </a:pPr>
            <a:r>
              <a:rPr sz="400" b="0" i="0">
                <a:solidFill>
                  <a:srgbClr val="2A2A2A"/>
                </a:solidFill>
                <a:latin typeface="Calibri"/>
              </a:rPr>
              <a:t/>
            </a:r>
          </a:p>
          <a:p>
            <a:pPr algn="ctr">
              <a:lnSpc>
                <a:spcPct val="100000"/>
              </a:lnSpc>
            </a:pPr>
            <a:r>
              <a:rPr sz="1400" b="0" i="0">
                <a:solidFill>
                  <a:srgbClr val="6B6B6B"/>
                </a:solidFill>
                <a:latin typeface="Calibri"/>
              </a:rPr>
              <a:t>Finds the right evidence, every time</a:t>
            </a:r>
          </a:p>
        </p:txBody>
      </p:sp>
      <p:sp>
        <p:nvSpPr>
          <p:cNvPr id="10" name="Rounded Rectangle 9"/>
          <p:cNvSpPr/>
          <p:nvPr/>
        </p:nvSpPr>
        <p:spPr>
          <a:xfrm>
            <a:off x="4384548" y="1691640"/>
            <a:ext cx="3419856" cy="2468880"/>
          </a:xfrm>
          <a:prstGeom prst="roundRect">
            <a:avLst>
              <a:gd name="adj" fmla="val 6000"/>
            </a:avLst>
          </a:prstGeom>
          <a:solidFill>
            <a:srgbClr val="E9EFF8"/>
          </a:solidFill>
          <a:ln w="15875">
            <a:solidFill>
              <a:srgbClr val="C7D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5988" y="1783080"/>
            <a:ext cx="3236976" cy="2286000"/>
          </a:xfrm>
          <a:prstGeom prst="rect">
            <a:avLst/>
          </a:prstGeom>
          <a:noFill/>
        </p:spPr>
        <p:txBody>
          <a:bodyPr wrap="square" anchor="ctr" tIns="27432" bIns="27432">
            <a:spAutoFit/>
          </a:bodyPr>
          <a:lstStyle/>
          <a:p>
            <a:pPr algn="ctr">
              <a:lnSpc>
                <a:spcPct val="100000"/>
              </a:lnSpc>
            </a:pPr>
            <a:r>
              <a:rPr sz="6000" b="1" i="0">
                <a:solidFill>
                  <a:srgbClr val="4C72B0"/>
                </a:solidFill>
                <a:latin typeface="Calibri"/>
              </a:rPr>
              <a:t>83.3%</a:t>
            </a:r>
          </a:p>
          <a:p>
            <a:pPr algn="ctr">
              <a:lnSpc>
                <a:spcPct val="100000"/>
              </a:lnSpc>
            </a:pPr>
            <a:r>
              <a:rPr sz="1800" b="1" i="0">
                <a:solidFill>
                  <a:srgbClr val="2A2A2A"/>
                </a:solidFill>
                <a:latin typeface="Calibri"/>
              </a:rPr>
              <a:t>Trust Harness Accuracy</a:t>
            </a:r>
          </a:p>
          <a:p>
            <a:pPr algn="ctr">
              <a:lnSpc>
                <a:spcPct val="100000"/>
              </a:lnSpc>
            </a:pPr>
            <a:r>
              <a:rPr sz="400" b="0" i="0">
                <a:solidFill>
                  <a:srgbClr val="2A2A2A"/>
                </a:solidFill>
                <a:latin typeface="Calibri"/>
              </a:rPr>
              <a:t/>
            </a:r>
          </a:p>
          <a:p>
            <a:pPr algn="ctr">
              <a:lnSpc>
                <a:spcPct val="100000"/>
              </a:lnSpc>
            </a:pPr>
            <a:r>
              <a:rPr sz="1400" b="0" i="0">
                <a:solidFill>
                  <a:srgbClr val="6B6B6B"/>
                </a:solidFill>
                <a:latin typeface="Calibri"/>
              </a:rPr>
              <a:t>Up from 50% after we fixed the rules</a:t>
            </a:r>
          </a:p>
        </p:txBody>
      </p:sp>
      <p:sp>
        <p:nvSpPr>
          <p:cNvPr id="12" name="Rounded Rectangle 11"/>
          <p:cNvSpPr/>
          <p:nvPr/>
        </p:nvSpPr>
        <p:spPr>
          <a:xfrm>
            <a:off x="8129016" y="1691640"/>
            <a:ext cx="3419856" cy="2468880"/>
          </a:xfrm>
          <a:prstGeom prst="roundRect">
            <a:avLst>
              <a:gd name="adj" fmla="val 6000"/>
            </a:avLst>
          </a:prstGeom>
          <a:solidFill>
            <a:srgbClr val="E9EFF8"/>
          </a:solidFill>
          <a:ln w="15875">
            <a:solidFill>
              <a:srgbClr val="C7D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0456" y="1783080"/>
            <a:ext cx="3236976" cy="2286000"/>
          </a:xfrm>
          <a:prstGeom prst="rect">
            <a:avLst/>
          </a:prstGeom>
          <a:noFill/>
        </p:spPr>
        <p:txBody>
          <a:bodyPr wrap="square" anchor="ctr" tIns="27432" bIns="27432">
            <a:spAutoFit/>
          </a:bodyPr>
          <a:lstStyle/>
          <a:p>
            <a:pPr algn="ctr">
              <a:lnSpc>
                <a:spcPct val="100000"/>
              </a:lnSpc>
            </a:pPr>
            <a:r>
              <a:rPr sz="6000" b="1" i="0">
                <a:solidFill>
                  <a:srgbClr val="DD8452"/>
                </a:solidFill>
                <a:latin typeface="Calibri"/>
              </a:rPr>
              <a:t>99.2%</a:t>
            </a:r>
          </a:p>
          <a:p>
            <a:pPr algn="ctr">
              <a:lnSpc>
                <a:spcPct val="100000"/>
              </a:lnSpc>
            </a:pPr>
            <a:r>
              <a:rPr sz="1800" b="1" i="0">
                <a:solidFill>
                  <a:srgbClr val="2A2A2A"/>
                </a:solidFill>
                <a:latin typeface="Calibri"/>
              </a:rPr>
              <a:t>Test Coverage</a:t>
            </a:r>
          </a:p>
          <a:p>
            <a:pPr algn="ctr">
              <a:lnSpc>
                <a:spcPct val="100000"/>
              </a:lnSpc>
            </a:pPr>
            <a:r>
              <a:rPr sz="400" b="0" i="0">
                <a:solidFill>
                  <a:srgbClr val="2A2A2A"/>
                </a:solidFill>
                <a:latin typeface="Calibri"/>
              </a:rPr>
              <a:t/>
            </a:r>
          </a:p>
          <a:p>
            <a:pPr algn="ctr">
              <a:lnSpc>
                <a:spcPct val="100000"/>
              </a:lnSpc>
            </a:pPr>
            <a:r>
              <a:rPr sz="1400" b="0" i="0">
                <a:solidFill>
                  <a:srgbClr val="6B6B6B"/>
                </a:solidFill>
                <a:latin typeface="Calibri"/>
              </a:rPr>
              <a:t>500 automated tests, on every change</a:t>
            </a:r>
          </a:p>
        </p:txBody>
      </p:sp>
      <p:sp>
        <p:nvSpPr>
          <p:cNvPr id="14" name="Rounded Rectangle 13"/>
          <p:cNvSpPr/>
          <p:nvPr/>
        </p:nvSpPr>
        <p:spPr>
          <a:xfrm>
            <a:off x="640080" y="4480560"/>
            <a:ext cx="10908792" cy="1234440"/>
          </a:xfrm>
          <a:prstGeom prst="roundRect">
            <a:avLst>
              <a:gd name="adj" fmla="val 6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480560"/>
            <a:ext cx="10543032" cy="1234440"/>
          </a:xfrm>
          <a:prstGeom prst="rect">
            <a:avLst/>
          </a:prstGeom>
          <a:noFill/>
        </p:spPr>
        <p:txBody>
          <a:bodyPr wrap="square" anchor="ctr" tIns="27432" bIns="27432">
            <a:spAutoFit/>
          </a:bodyPr>
          <a:lstStyle/>
          <a:p>
            <a:pPr algn="ctr">
              <a:lnSpc>
                <a:spcPct val="100000"/>
              </a:lnSpc>
            </a:pPr>
            <a:r>
              <a:rPr sz="1800" b="1" i="0">
                <a:solidFill>
                  <a:srgbClr val="DD8452"/>
                </a:solidFill>
                <a:latin typeface="Calibri"/>
              </a:rPr>
              <a:t>Data analysis, in one line:</a:t>
            </a:r>
          </a:p>
          <a:p>
            <a:pPr algn="ctr">
              <a:lnSpc>
                <a:spcPct val="100000"/>
              </a:lnSpc>
            </a:pPr>
            <a:r>
              <a:rPr sz="1800" b="0" i="0">
                <a:solidFill>
                  <a:srgbClr val="2A2A2A"/>
                </a:solidFill>
                <a:latin typeface="Calibri"/>
              </a:rPr>
              <a:t>We tested our own verifier, caught it at only 50% accuracy, and calibrated it to 83.3% — while the dangerous error (a false claim marked true) stayed at 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The Proof: It Chose Honesty Over a Fake Match</a:t>
            </a:r>
          </a:p>
        </p:txBody>
      </p:sp>
      <p:sp>
        <p:nvSpPr>
          <p:cNvPr id="6" name="TextBox 5"/>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Final Presentation</a:t>
            </a:r>
          </a:p>
        </p:txBody>
      </p:sp>
      <p:sp>
        <p:nvSpPr>
          <p:cNvPr id="7" name="Rounded Rectangle 6"/>
          <p:cNvSpPr/>
          <p:nvPr/>
        </p:nvSpPr>
        <p:spPr>
          <a:xfrm>
            <a:off x="640080" y="1325880"/>
            <a:ext cx="10908792" cy="841248"/>
          </a:xfrm>
          <a:prstGeom prst="roundRect">
            <a:avLst>
              <a:gd name="adj" fmla="val 6000"/>
            </a:avLst>
          </a:prstGeom>
          <a:solidFill>
            <a:srgbClr val="E9EFF8"/>
          </a:solidFill>
          <a:ln w="15875">
            <a:solidFill>
              <a:srgbClr val="C7D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325880"/>
            <a:ext cx="10634472" cy="841248"/>
          </a:xfrm>
          <a:prstGeom prst="rect">
            <a:avLst/>
          </a:prstGeom>
          <a:noFill/>
        </p:spPr>
        <p:txBody>
          <a:bodyPr wrap="square" anchor="ctr" tIns="27432" bIns="27432">
            <a:spAutoFit/>
          </a:bodyPr>
          <a:lstStyle/>
          <a:p>
            <a:pPr algn="ctr"/>
            <a:r>
              <a:rPr sz="2000" b="1" i="0">
                <a:solidFill>
                  <a:srgbClr val="4C72B0"/>
                </a:solidFill>
                <a:latin typeface="Calibri"/>
              </a:rPr>
              <a:t>Backend Engineer résumé</a:t>
            </a:r>
            <a:r>
              <a:rPr sz="2000" b="0" i="0">
                <a:solidFill>
                  <a:srgbClr val="2A2A2A"/>
                </a:solidFill>
                <a:latin typeface="Calibri"/>
              </a:rPr>
              <a:t>   →   applied to an </a:t>
            </a:r>
            <a:r>
              <a:rPr sz="2000" b="1" i="0">
                <a:solidFill>
                  <a:srgbClr val="DD8452"/>
                </a:solidFill>
                <a:latin typeface="Calibri"/>
              </a:rPr>
              <a:t>iOS Developer job</a:t>
            </a:r>
            <a:r>
              <a:rPr sz="2000" b="0" i="1">
                <a:solidFill>
                  <a:srgbClr val="2A2A2A"/>
                </a:solidFill>
                <a:latin typeface="Calibri"/>
              </a:rPr>
              <a:t>  (zero iOS experience)</a:t>
            </a:r>
          </a:p>
        </p:txBody>
      </p:sp>
      <p:sp>
        <p:nvSpPr>
          <p:cNvPr id="9" name="Rounded Rectangle 8"/>
          <p:cNvSpPr/>
          <p:nvPr/>
        </p:nvSpPr>
        <p:spPr>
          <a:xfrm>
            <a:off x="822960" y="2377440"/>
            <a:ext cx="5120640" cy="1783080"/>
          </a:xfrm>
          <a:prstGeom prst="roundRect">
            <a:avLst>
              <a:gd name="adj" fmla="val 6000"/>
            </a:avLst>
          </a:prstGeom>
          <a:solidFill>
            <a:srgbClr val="E6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77440"/>
            <a:ext cx="4937760" cy="1783080"/>
          </a:xfrm>
          <a:prstGeom prst="rect">
            <a:avLst/>
          </a:prstGeom>
          <a:noFill/>
        </p:spPr>
        <p:txBody>
          <a:bodyPr wrap="square" anchor="ctr" tIns="27432" bIns="27432">
            <a:spAutoFit/>
          </a:bodyPr>
          <a:lstStyle/>
          <a:p>
            <a:pPr algn="ctr">
              <a:lnSpc>
                <a:spcPct val="95000"/>
              </a:lnSpc>
            </a:pPr>
            <a:r>
              <a:rPr sz="1800" b="1" i="0">
                <a:solidFill>
                  <a:srgbClr val="2A2A2A"/>
                </a:solidFill>
                <a:latin typeface="Calibri"/>
              </a:rPr>
              <a:t>Trust Score</a:t>
            </a:r>
          </a:p>
          <a:p>
            <a:pPr algn="ctr">
              <a:lnSpc>
                <a:spcPct val="95000"/>
              </a:lnSpc>
            </a:pPr>
            <a:r>
              <a:rPr sz="6600" b="1" i="0">
                <a:solidFill>
                  <a:srgbClr val="4F935F"/>
                </a:solidFill>
                <a:latin typeface="Calibri"/>
              </a:rPr>
              <a:t>100</a:t>
            </a:r>
          </a:p>
          <a:p>
            <a:pPr algn="ctr">
              <a:lnSpc>
                <a:spcPct val="95000"/>
              </a:lnSpc>
            </a:pPr>
            <a:r>
              <a:rPr sz="1600" b="0" i="0">
                <a:solidFill>
                  <a:srgbClr val="2A2A2A"/>
                </a:solidFill>
                <a:latin typeface="Calibri"/>
              </a:rPr>
              <a:t>Every claim was true</a:t>
            </a:r>
          </a:p>
        </p:txBody>
      </p:sp>
      <p:sp>
        <p:nvSpPr>
          <p:cNvPr id="11" name="Rounded Rectangle 10"/>
          <p:cNvSpPr/>
          <p:nvPr/>
        </p:nvSpPr>
        <p:spPr>
          <a:xfrm>
            <a:off x="6245352" y="2377440"/>
            <a:ext cx="5120640" cy="1783080"/>
          </a:xfrm>
          <a:prstGeom prst="roundRect">
            <a:avLst>
              <a:gd name="adj" fmla="val 6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2377440"/>
            <a:ext cx="4937760" cy="1783080"/>
          </a:xfrm>
          <a:prstGeom prst="rect">
            <a:avLst/>
          </a:prstGeom>
          <a:noFill/>
        </p:spPr>
        <p:txBody>
          <a:bodyPr wrap="square" anchor="ctr" tIns="27432" bIns="27432">
            <a:spAutoFit/>
          </a:bodyPr>
          <a:lstStyle/>
          <a:p>
            <a:pPr algn="ctr">
              <a:lnSpc>
                <a:spcPct val="95000"/>
              </a:lnSpc>
            </a:pPr>
            <a:r>
              <a:rPr sz="1800" b="1" i="0">
                <a:solidFill>
                  <a:srgbClr val="2A2A2A"/>
                </a:solidFill>
                <a:latin typeface="Calibri"/>
              </a:rPr>
              <a:t>ATS Match</a:t>
            </a:r>
          </a:p>
          <a:p>
            <a:pPr algn="ctr">
              <a:lnSpc>
                <a:spcPct val="95000"/>
              </a:lnSpc>
            </a:pPr>
            <a:r>
              <a:rPr sz="6600" b="1" i="0">
                <a:solidFill>
                  <a:srgbClr val="C44E52"/>
                </a:solidFill>
                <a:latin typeface="Calibri"/>
              </a:rPr>
              <a:t>0</a:t>
            </a:r>
          </a:p>
          <a:p>
            <a:pPr algn="ctr">
              <a:lnSpc>
                <a:spcPct val="95000"/>
              </a:lnSpc>
            </a:pPr>
            <a:r>
              <a:rPr sz="1600" b="0" i="0">
                <a:solidFill>
                  <a:srgbClr val="2A2A2A"/>
                </a:solidFill>
                <a:latin typeface="Calibri"/>
              </a:rPr>
              <a:t>No matching experience</a:t>
            </a:r>
          </a:p>
        </p:txBody>
      </p:sp>
      <p:sp>
        <p:nvSpPr>
          <p:cNvPr id="13" name="TextBox 12"/>
          <p:cNvSpPr txBox="1"/>
          <p:nvPr/>
        </p:nvSpPr>
        <p:spPr>
          <a:xfrm>
            <a:off x="914400" y="4343400"/>
            <a:ext cx="10360152" cy="1280160"/>
          </a:xfrm>
          <a:prstGeom prst="rect">
            <a:avLst/>
          </a:prstGeom>
          <a:noFill/>
        </p:spPr>
        <p:txBody>
          <a:bodyPr wrap="square" anchor="t" tIns="27432" bIns="27432">
            <a:spAutoFit/>
          </a:bodyPr>
          <a:lstStyle/>
          <a:p>
            <a:pPr algn="l">
              <a:lnSpc>
                <a:spcPct val="112000"/>
              </a:lnSpc>
            </a:pPr>
            <a:r>
              <a:rPr sz="2000" b="1" i="0">
                <a:solidFill>
                  <a:srgbClr val="4F935F"/>
                </a:solidFill>
                <a:latin typeface="Calibri"/>
              </a:rPr>
              <a:t>✓  </a:t>
            </a:r>
            <a:r>
              <a:rPr sz="2000" b="0" i="0">
                <a:solidFill>
                  <a:srgbClr val="2A2A2A"/>
                </a:solidFill>
                <a:latin typeface="Calibri"/>
              </a:rPr>
              <a:t>Every claim it made was true</a:t>
            </a:r>
          </a:p>
          <a:p>
            <a:pPr algn="l">
              <a:lnSpc>
                <a:spcPct val="112000"/>
              </a:lnSpc>
            </a:pPr>
            <a:r>
              <a:rPr sz="2000" b="1" i="0">
                <a:solidFill>
                  <a:srgbClr val="C44E52"/>
                </a:solidFill>
                <a:latin typeface="Calibri"/>
              </a:rPr>
              <a:t>✗  </a:t>
            </a:r>
            <a:r>
              <a:rPr sz="2000" b="0" i="0">
                <a:solidFill>
                  <a:srgbClr val="2A2A2A"/>
                </a:solidFill>
                <a:latin typeface="Calibri"/>
              </a:rPr>
              <a:t>No iOS experience — and it refused to invent any</a:t>
            </a:r>
          </a:p>
          <a:p>
            <a:pPr algn="l">
              <a:lnSpc>
                <a:spcPct val="112000"/>
              </a:lnSpc>
            </a:pPr>
            <a:r>
              <a:rPr sz="2000" b="1" i="0">
                <a:solidFill>
                  <a:srgbClr val="4F935F"/>
                </a:solidFill>
                <a:latin typeface="Calibri"/>
              </a:rPr>
              <a:t>✓  </a:t>
            </a:r>
            <a:r>
              <a:rPr sz="2000" b="0" i="0">
                <a:solidFill>
                  <a:srgbClr val="2A2A2A"/>
                </a:solidFill>
                <a:latin typeface="Calibri"/>
              </a:rPr>
              <a:t>Reported an honest failure instead of a fabricated pass</a:t>
            </a:r>
          </a:p>
        </p:txBody>
      </p:sp>
      <p:sp>
        <p:nvSpPr>
          <p:cNvPr id="14" name="TextBox 13"/>
          <p:cNvSpPr txBox="1"/>
          <p:nvPr/>
        </p:nvSpPr>
        <p:spPr>
          <a:xfrm>
            <a:off x="640080" y="5715000"/>
            <a:ext cx="10908792" cy="548640"/>
          </a:xfrm>
          <a:prstGeom prst="rect">
            <a:avLst/>
          </a:prstGeom>
          <a:noFill/>
        </p:spPr>
        <p:txBody>
          <a:bodyPr wrap="square" anchor="ctr" tIns="27432" bIns="27432">
            <a:spAutoFit/>
          </a:bodyPr>
          <a:lstStyle/>
          <a:p>
            <a:pPr algn="ctr"/>
            <a:r>
              <a:rPr sz="2200" b="1" i="1">
                <a:solidFill>
                  <a:srgbClr val="DD8452"/>
                </a:solidFill>
                <a:latin typeface="Calibri"/>
              </a:rPr>
              <a:t>It would rather fail you than lie for you.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Quality Engineering Behind the Scenes</a:t>
            </a:r>
          </a:p>
        </p:txBody>
      </p:sp>
      <p:sp>
        <p:nvSpPr>
          <p:cNvPr id="5" name="TextBox 4"/>
          <p:cNvSpPr txBox="1"/>
          <p:nvPr/>
        </p:nvSpPr>
        <p:spPr>
          <a:xfrm>
            <a:off x="640080" y="1417320"/>
            <a:ext cx="10911535" cy="4846320"/>
          </a:xfrm>
          <a:prstGeom prst="rect">
            <a:avLst/>
          </a:prstGeom>
          <a:noFill/>
        </p:spPr>
        <p:txBody>
          <a:bodyPr wrap="square">
            <a:spAutoFit/>
          </a:bodyPr>
          <a:lstStyle/>
          <a:p>
            <a:pPr>
              <a:spcAft>
                <a:spcPts val="1400"/>
              </a:spcAft>
            </a:pPr>
            <a:r>
              <a:rPr sz="2000" b="0" i="0">
                <a:solidFill>
                  <a:srgbClr val="2A2A2A"/>
                </a:solidFill>
                <a:latin typeface="Calibri"/>
              </a:rPr>
              <a:t>•  500 automated tests, 99.2% coverage, enforced on every code change via continuous integration.</a:t>
            </a:r>
          </a:p>
          <a:p>
            <a:pPr>
              <a:spcAft>
                <a:spcPts val="1400"/>
              </a:spcAft>
            </a:pPr>
            <a:r>
              <a:rPr sz="2000" b="0" i="0">
                <a:solidFill>
                  <a:srgbClr val="2A2A2A"/>
                </a:solidFill>
                <a:latin typeface="Calibri"/>
              </a:rPr>
              <a:t>•  Every generation is measured: tokens, latency, and dollar cost, broken down per step, so there's no more guessing what a run costs.</a:t>
            </a:r>
          </a:p>
          <a:p>
            <a:pPr>
              <a:spcAft>
                <a:spcPts val="1400"/>
              </a:spcAft>
            </a:pPr>
            <a:r>
              <a:rPr sz="2000" b="0" i="0">
                <a:solidFill>
                  <a:srgbClr val="2A2A2A"/>
                </a:solidFill>
                <a:latin typeface="Calibri"/>
              </a:rPr>
              <a:t>•  Real-world cost: roughly $0.51 to $0.60 per résumé, six model calls every time - now constant, since the rewrite count is a config setting, not luck.</a:t>
            </a:r>
          </a:p>
          <a:p>
            <a:pPr>
              <a:spcAft>
                <a:spcPts val="1400"/>
              </a:spcAft>
            </a:pPr>
            <a:r>
              <a:rPr sz="2000" b="0" i="0">
                <a:solidFill>
                  <a:srgbClr val="2A2A2A"/>
                </a:solidFill>
                <a:latin typeface="Calibri"/>
              </a:rPr>
              <a:t>•  Several of the most important bugs only showed up when the real system ran end to end, not in a unit test, which is why we kept real, live testing in the process, not just fast offline checks.</a:t>
            </a:r>
          </a:p>
        </p:txBody>
      </p:sp>
      <p:sp>
        <p:nvSpPr>
          <p:cNvPr id="6" name="TextBox 5"/>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Final Presentation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Responsible AI &amp; What’s Next</a:t>
            </a:r>
          </a:p>
        </p:txBody>
      </p:sp>
      <p:sp>
        <p:nvSpPr>
          <p:cNvPr id="6" name="TextBox 5"/>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Final Presentation</a:t>
            </a:r>
          </a:p>
        </p:txBody>
      </p:sp>
      <p:sp>
        <p:nvSpPr>
          <p:cNvPr id="7" name="Rounded Rectangle 6"/>
          <p:cNvSpPr/>
          <p:nvPr/>
        </p:nvSpPr>
        <p:spPr>
          <a:xfrm>
            <a:off x="640080" y="1417320"/>
            <a:ext cx="5303520" cy="4251960"/>
          </a:xfrm>
          <a:prstGeom prst="roundRect">
            <a:avLst>
              <a:gd name="adj" fmla="val 6000"/>
            </a:avLst>
          </a:prstGeom>
          <a:solidFill>
            <a:srgbClr val="E9EFF8"/>
          </a:solidFill>
          <a:ln w="15875">
            <a:solidFill>
              <a:srgbClr val="C7D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0200"/>
            <a:ext cx="4892040" cy="3931920"/>
          </a:xfrm>
          <a:prstGeom prst="rect">
            <a:avLst/>
          </a:prstGeom>
          <a:noFill/>
        </p:spPr>
        <p:txBody>
          <a:bodyPr wrap="square" anchor="t" tIns="27432" bIns="27432">
            <a:spAutoFit/>
          </a:bodyPr>
          <a:lstStyle/>
          <a:p>
            <a:pPr algn="l">
              <a:lnSpc>
                <a:spcPct val="105000"/>
              </a:lnSpc>
            </a:pPr>
            <a:r>
              <a:rPr sz="2000" b="1" i="0">
                <a:solidFill>
                  <a:srgbClr val="4C72B0"/>
                </a:solidFill>
                <a:latin typeface="Calibri"/>
              </a:rPr>
              <a:t>Responsible by design</a:t>
            </a:r>
          </a:p>
          <a:p>
            <a:pPr algn="l">
              <a:lnSpc>
                <a:spcPct val="105000"/>
              </a:lnSpc>
            </a:pPr>
            <a:r>
              <a:rPr sz="800" b="0" i="0">
                <a:solidFill>
                  <a:srgbClr val="2A2A2A"/>
                </a:solidFill>
                <a:latin typeface="Calibri"/>
              </a:rPr>
              <a:t/>
            </a:r>
          </a:p>
          <a:p>
            <a:pPr algn="l">
              <a:lnSpc>
                <a:spcPct val="105000"/>
              </a:lnSpc>
            </a:pPr>
            <a:r>
              <a:rPr sz="1700" b="0" i="0">
                <a:solidFill>
                  <a:srgbClr val="2A2A2A"/>
                </a:solidFill>
                <a:latin typeface="Calibri"/>
              </a:rPr>
              <a:t>Security — every input is treated as data, not instructions (prompt-injection defense).</a:t>
            </a:r>
          </a:p>
          <a:p>
            <a:pPr algn="l">
              <a:lnSpc>
                <a:spcPct val="105000"/>
              </a:lnSpc>
            </a:pPr>
            <a:r>
              <a:rPr sz="600" b="0" i="0">
                <a:solidFill>
                  <a:srgbClr val="2A2A2A"/>
                </a:solidFill>
                <a:latin typeface="Calibri"/>
              </a:rPr>
              <a:t/>
            </a:r>
          </a:p>
          <a:p>
            <a:pPr algn="l">
              <a:lnSpc>
                <a:spcPct val="105000"/>
              </a:lnSpc>
            </a:pPr>
            <a:r>
              <a:rPr sz="1700" b="0" i="0">
                <a:solidFill>
                  <a:srgbClr val="2A2A2A"/>
                </a:solidFill>
                <a:latin typeface="Calibri"/>
              </a:rPr>
              <a:t>Privacy — every user’s data is isolated and filtered on the server.</a:t>
            </a:r>
          </a:p>
          <a:p>
            <a:pPr algn="l">
              <a:lnSpc>
                <a:spcPct val="105000"/>
              </a:lnSpc>
            </a:pPr>
            <a:r>
              <a:rPr sz="600" b="0" i="0">
                <a:solidFill>
                  <a:srgbClr val="2A2A2A"/>
                </a:solidFill>
                <a:latin typeface="Calibri"/>
              </a:rPr>
              <a:t/>
            </a:r>
          </a:p>
          <a:p>
            <a:pPr algn="l">
              <a:lnSpc>
                <a:spcPct val="105000"/>
              </a:lnSpc>
            </a:pPr>
            <a:r>
              <a:rPr sz="1700" b="0" i="0">
                <a:solidFill>
                  <a:srgbClr val="2A2A2A"/>
                </a:solidFill>
                <a:latin typeface="Calibri"/>
              </a:rPr>
              <a:t>Fairness — the same verification stops the system from rewarding whoever embellishes best.</a:t>
            </a:r>
          </a:p>
        </p:txBody>
      </p:sp>
      <p:sp>
        <p:nvSpPr>
          <p:cNvPr id="9" name="Rounded Rectangle 8"/>
          <p:cNvSpPr/>
          <p:nvPr/>
        </p:nvSpPr>
        <p:spPr>
          <a:xfrm>
            <a:off x="6245352" y="1417320"/>
            <a:ext cx="5303520" cy="4251960"/>
          </a:xfrm>
          <a:prstGeom prst="roundRect">
            <a:avLst>
              <a:gd name="adj" fmla="val 6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3952" y="1600200"/>
            <a:ext cx="4892040" cy="3931920"/>
          </a:xfrm>
          <a:prstGeom prst="rect">
            <a:avLst/>
          </a:prstGeom>
          <a:noFill/>
        </p:spPr>
        <p:txBody>
          <a:bodyPr wrap="square" anchor="t" tIns="27432" bIns="27432">
            <a:spAutoFit/>
          </a:bodyPr>
          <a:lstStyle/>
          <a:p>
            <a:pPr algn="l">
              <a:lnSpc>
                <a:spcPct val="105000"/>
              </a:lnSpc>
            </a:pPr>
            <a:r>
              <a:rPr sz="2000" b="1" i="0">
                <a:solidFill>
                  <a:srgbClr val="DD8452"/>
                </a:solidFill>
                <a:latin typeface="Calibri"/>
              </a:rPr>
              <a:t>What’s next — four focus areas</a:t>
            </a:r>
          </a:p>
          <a:p>
            <a:pPr algn="l">
              <a:lnSpc>
                <a:spcPct val="105000"/>
              </a:lnSpc>
            </a:pPr>
            <a:r>
              <a:rPr sz="800" b="0" i="0">
                <a:solidFill>
                  <a:srgbClr val="2A2A2A"/>
                </a:solidFill>
                <a:latin typeface="Calibri"/>
              </a:rPr>
              <a:t/>
            </a:r>
          </a:p>
          <a:p>
            <a:pPr algn="l">
              <a:lnSpc>
                <a:spcPct val="105000"/>
              </a:lnSpc>
            </a:pPr>
            <a:r>
              <a:rPr sz="1700" b="0" i="0">
                <a:solidFill>
                  <a:srgbClr val="2A2A2A"/>
                </a:solidFill>
                <a:latin typeface="Calibri"/>
              </a:rPr>
              <a:t>1.  Authentication &amp; Security — real login, rate limiting</a:t>
            </a:r>
          </a:p>
          <a:p>
            <a:pPr algn="l">
              <a:lnSpc>
                <a:spcPct val="105000"/>
              </a:lnSpc>
            </a:pPr>
            <a:r>
              <a:rPr sz="600" b="0" i="0">
                <a:solidFill>
                  <a:srgbClr val="2A2A2A"/>
                </a:solidFill>
                <a:latin typeface="Calibri"/>
              </a:rPr>
              <a:t/>
            </a:r>
          </a:p>
          <a:p>
            <a:pPr algn="l">
              <a:lnSpc>
                <a:spcPct val="105000"/>
              </a:lnSpc>
            </a:pPr>
            <a:r>
              <a:rPr sz="1700" b="0" i="0">
                <a:solidFill>
                  <a:srgbClr val="2A2A2A"/>
                </a:solidFill>
                <a:latin typeface="Calibri"/>
              </a:rPr>
              <a:t>2.  Retrieval Quality — a relevance threshold on search</a:t>
            </a:r>
          </a:p>
          <a:p>
            <a:pPr algn="l">
              <a:lnSpc>
                <a:spcPct val="105000"/>
              </a:lnSpc>
            </a:pPr>
            <a:r>
              <a:rPr sz="600" b="0" i="0">
                <a:solidFill>
                  <a:srgbClr val="2A2A2A"/>
                </a:solidFill>
                <a:latin typeface="Calibri"/>
              </a:rPr>
              <a:t/>
            </a:r>
          </a:p>
          <a:p>
            <a:pPr algn="l">
              <a:lnSpc>
                <a:spcPct val="105000"/>
              </a:lnSpc>
            </a:pPr>
            <a:r>
              <a:rPr sz="1700" b="0" i="0">
                <a:solidFill>
                  <a:srgbClr val="2A2A2A"/>
                </a:solidFill>
                <a:latin typeface="Calibri"/>
              </a:rPr>
              <a:t>3.  Trust Accuracy — a larger labeled dataset</a:t>
            </a:r>
          </a:p>
          <a:p>
            <a:pPr algn="l">
              <a:lnSpc>
                <a:spcPct val="105000"/>
              </a:lnSpc>
            </a:pPr>
            <a:r>
              <a:rPr sz="600" b="0" i="0">
                <a:solidFill>
                  <a:srgbClr val="2A2A2A"/>
                </a:solidFill>
                <a:latin typeface="Calibri"/>
              </a:rPr>
              <a:t/>
            </a:r>
          </a:p>
          <a:p>
            <a:pPr algn="l">
              <a:lnSpc>
                <a:spcPct val="105000"/>
              </a:lnSpc>
            </a:pPr>
            <a:r>
              <a:rPr sz="1700" b="0" i="0">
                <a:solidFill>
                  <a:srgbClr val="2A2A2A"/>
                </a:solidFill>
                <a:latin typeface="Calibri"/>
              </a:rPr>
              <a:t>4.  Scalability &amp; Language Support — scale-out, more export languages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What's Next</a:t>
            </a:r>
          </a:p>
        </p:txBody>
      </p:sp>
      <p:sp>
        <p:nvSpPr>
          <p:cNvPr id="5" name="TextBox 4"/>
          <p:cNvSpPr txBox="1"/>
          <p:nvPr/>
        </p:nvSpPr>
        <p:spPr>
          <a:xfrm>
            <a:off x="640080" y="1417320"/>
            <a:ext cx="10911535" cy="4846320"/>
          </a:xfrm>
          <a:prstGeom prst="rect">
            <a:avLst/>
          </a:prstGeom>
          <a:noFill/>
        </p:spPr>
        <p:txBody>
          <a:bodyPr wrap="square">
            <a:spAutoFit/>
          </a:bodyPr>
          <a:lstStyle/>
          <a:p>
            <a:pPr>
              <a:spcAft>
                <a:spcPts val="1400"/>
              </a:spcAft>
            </a:pPr>
            <a:r>
              <a:rPr sz="2000" b="0" i="0">
                <a:solidFill>
                  <a:srgbClr val="2A2A2A"/>
                </a:solidFill>
                <a:latin typeface="Calibri"/>
              </a:rPr>
              <a:t>•  Real authentication and rate limiting for multi-tenant production use.</a:t>
            </a:r>
          </a:p>
          <a:p>
            <a:pPr>
              <a:spcAft>
                <a:spcPts val="1400"/>
              </a:spcAft>
            </a:pPr>
            <a:r>
              <a:rPr sz="2000" b="0" i="0">
                <a:solidFill>
                  <a:srgbClr val="2A2A2A"/>
                </a:solidFill>
                <a:latin typeface="Calibri"/>
              </a:rPr>
              <a:t>•  A relevance threshold on retrieval, so a question with no good answer returns less, not a forced full set of results.</a:t>
            </a:r>
          </a:p>
          <a:p>
            <a:pPr>
              <a:spcAft>
                <a:spcPts val="1400"/>
              </a:spcAft>
            </a:pPr>
            <a:r>
              <a:rPr sz="2000" b="0" i="0">
                <a:solidFill>
                  <a:srgbClr val="2A2A2A"/>
                </a:solidFill>
                <a:latin typeface="Calibri"/>
              </a:rPr>
              <a:t>•  A larger labeled dataset targeting the two claim types the verifier still occasionally misjudges.</a:t>
            </a:r>
          </a:p>
          <a:p>
            <a:pPr>
              <a:spcAft>
                <a:spcPts val="1400"/>
              </a:spcAft>
            </a:pPr>
            <a:r>
              <a:rPr sz="2000" b="0" i="0">
                <a:solidFill>
                  <a:srgbClr val="2A2A2A"/>
                </a:solidFill>
                <a:latin typeface="Calibri"/>
              </a:rPr>
              <a:t>•  Broader language support for exported résumés, and a clear path to scale past a single server as demand grows.</a:t>
            </a:r>
          </a:p>
        </p:txBody>
      </p:sp>
      <p:sp>
        <p:nvSpPr>
          <p:cNvPr id="6" name="TextBox 5"/>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Final Presentation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DD84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
            <a:ext cx="10911535" cy="777240"/>
          </a:xfrm>
          <a:prstGeom prst="rect">
            <a:avLst/>
          </a:prstGeom>
          <a:noFill/>
        </p:spPr>
        <p:txBody>
          <a:bodyPr wrap="square">
            <a:spAutoFit/>
          </a:bodyPr>
          <a:lstStyle/>
          <a:p>
            <a:r>
              <a:rPr sz="3000" b="1" i="0">
                <a:solidFill>
                  <a:srgbClr val="FFFFFF"/>
                </a:solidFill>
                <a:latin typeface="Calibri"/>
              </a:rPr>
              <a:t>Conclusion</a:t>
            </a:r>
          </a:p>
        </p:txBody>
      </p:sp>
      <p:sp>
        <p:nvSpPr>
          <p:cNvPr id="6" name="TextBox 5"/>
          <p:cNvSpPr txBox="1"/>
          <p:nvPr/>
        </p:nvSpPr>
        <p:spPr>
          <a:xfrm>
            <a:off x="640080" y="6446520"/>
            <a:ext cx="10911535" cy="320040"/>
          </a:xfrm>
          <a:prstGeom prst="rect">
            <a:avLst/>
          </a:prstGeom>
          <a:noFill/>
        </p:spPr>
        <p:txBody>
          <a:bodyPr wrap="square">
            <a:spAutoFit/>
          </a:bodyPr>
          <a:lstStyle/>
          <a:p>
            <a:r>
              <a:rPr sz="1100" b="0" i="0">
                <a:solidFill>
                  <a:srgbClr val="6B6B6B"/>
                </a:solidFill>
                <a:latin typeface="Calibri"/>
              </a:rPr>
              <a:t>TrustResume | MSAI 699 Capstone Final Presentation</a:t>
            </a:r>
          </a:p>
        </p:txBody>
      </p:sp>
      <p:sp>
        <p:nvSpPr>
          <p:cNvPr id="7" name="Rounded Rectangle 6"/>
          <p:cNvSpPr/>
          <p:nvPr/>
        </p:nvSpPr>
        <p:spPr>
          <a:xfrm>
            <a:off x="640080" y="1554480"/>
            <a:ext cx="10908792" cy="1691640"/>
          </a:xfrm>
          <a:prstGeom prst="roundRect">
            <a:avLst>
              <a:gd name="adj" fmla="val 6000"/>
            </a:avLst>
          </a:prstGeom>
          <a:solidFill>
            <a:srgbClr val="E9EFF8"/>
          </a:solidFill>
          <a:ln w="15875">
            <a:solidFill>
              <a:srgbClr val="C7D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54480"/>
            <a:ext cx="10543032" cy="1691640"/>
          </a:xfrm>
          <a:prstGeom prst="rect">
            <a:avLst/>
          </a:prstGeom>
          <a:noFill/>
        </p:spPr>
        <p:txBody>
          <a:bodyPr wrap="square" anchor="ctr" tIns="27432" bIns="27432">
            <a:spAutoFit/>
          </a:bodyPr>
          <a:lstStyle/>
          <a:p>
            <a:pPr algn="ctr">
              <a:lnSpc>
                <a:spcPct val="105000"/>
              </a:lnSpc>
            </a:pPr>
            <a:r>
              <a:rPr sz="2800" b="1" i="0">
                <a:solidFill>
                  <a:srgbClr val="2A2A2A"/>
                </a:solidFill>
                <a:latin typeface="Calibri"/>
              </a:rPr>
              <a:t>AI-generated content can be useful — without sacrificing trust.</a:t>
            </a:r>
          </a:p>
          <a:p>
            <a:pPr algn="ctr">
              <a:lnSpc>
                <a:spcPct val="105000"/>
              </a:lnSpc>
            </a:pPr>
            <a:r>
              <a:rPr sz="3000" b="1" i="0">
                <a:solidFill>
                  <a:srgbClr val="4C72B0"/>
                </a:solidFill>
                <a:latin typeface="Calibri"/>
              </a:rPr>
              <a:t>The key is independent verification.</a:t>
            </a:r>
          </a:p>
        </p:txBody>
      </p:sp>
      <p:sp>
        <p:nvSpPr>
          <p:cNvPr id="9" name="TextBox 8"/>
          <p:cNvSpPr txBox="1"/>
          <p:nvPr/>
        </p:nvSpPr>
        <p:spPr>
          <a:xfrm>
            <a:off x="822960" y="3520440"/>
            <a:ext cx="10543032" cy="2103120"/>
          </a:xfrm>
          <a:prstGeom prst="rect">
            <a:avLst/>
          </a:prstGeom>
          <a:noFill/>
        </p:spPr>
        <p:txBody>
          <a:bodyPr wrap="square" anchor="t" tIns="27432" bIns="27432">
            <a:spAutoFit/>
          </a:bodyPr>
          <a:lstStyle/>
          <a:p>
            <a:pPr algn="ctr">
              <a:lnSpc>
                <a:spcPct val="105000"/>
              </a:lnSpc>
            </a:pPr>
            <a:r>
              <a:rPr sz="2000" b="1" i="0">
                <a:solidFill>
                  <a:srgbClr val="4F935F"/>
                </a:solidFill>
                <a:latin typeface="Calibri"/>
              </a:rPr>
              <a:t>✓  </a:t>
            </a:r>
            <a:r>
              <a:rPr sz="2000" b="0" i="0">
                <a:solidFill>
                  <a:srgbClr val="2A2A2A"/>
                </a:solidFill>
                <a:latin typeface="Calibri"/>
              </a:rPr>
              <a:t>Proven on a real model — it chose an honest score over a fabricated resume.</a:t>
            </a:r>
          </a:p>
          <a:p>
            <a:pPr algn="ctr">
              <a:lnSpc>
                <a:spcPct val="105000"/>
              </a:lnSpc>
            </a:pPr>
            <a:r>
              <a:rPr sz="800" b="0" i="0">
                <a:solidFill>
                  <a:srgbClr val="2A2A2A"/>
                </a:solidFill>
                <a:latin typeface="Calibri"/>
              </a:rPr>
              <a:t/>
            </a:r>
          </a:p>
          <a:p>
            <a:pPr algn="ctr">
              <a:lnSpc>
                <a:spcPct val="105000"/>
              </a:lnSpc>
            </a:pPr>
            <a:r>
              <a:rPr sz="2000" b="0" i="0">
                <a:solidFill>
                  <a:srgbClr val="2A2A2A"/>
                </a:solidFill>
                <a:latin typeface="Calibri"/>
              </a:rPr>
              <a:t>For candidates: a resume they can stand behind.   For employers: claims they can trust.</a:t>
            </a:r>
          </a:p>
          <a:p>
            <a:pPr algn="ctr">
              <a:lnSpc>
                <a:spcPct val="105000"/>
              </a:lnSpc>
            </a:pPr>
            <a:r>
              <a:rPr sz="800" b="0" i="0">
                <a:solidFill>
                  <a:srgbClr val="2A2A2A"/>
                </a:solidFill>
                <a:latin typeface="Calibri"/>
              </a:rPr>
              <a:t/>
            </a:r>
          </a:p>
          <a:p>
            <a:pPr algn="ctr">
              <a:lnSpc>
                <a:spcPct val="105000"/>
              </a:lnSpc>
            </a:pPr>
            <a:r>
              <a:rPr sz="2000" b="0" i="1">
                <a:solidFill>
                  <a:srgbClr val="2A2A2A"/>
                </a:solidFill>
                <a:latin typeface="Calibri"/>
              </a:rPr>
              <a:t>The pattern — grounded generation + independent verification — fits any AI content where truth matters.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32720" cy="1097280"/>
          </a:xfrm>
          <a:prstGeom prst="rect">
            <a:avLst/>
          </a:prstGeom>
          <a:noFill/>
        </p:spPr>
        <p:txBody>
          <a:bodyPr wrap="square">
            <a:spAutoFit/>
          </a:bodyPr>
          <a:lstStyle/>
          <a:p>
            <a:r>
              <a:rPr sz="4800" b="1" i="0">
                <a:solidFill>
                  <a:srgbClr val="FFFFFF"/>
                </a:solidFill>
                <a:latin typeface="Calibri"/>
              </a:rPr>
              <a:t>Thank You</a:t>
            </a:r>
          </a:p>
        </p:txBody>
      </p:sp>
      <p:sp>
        <p:nvSpPr>
          <p:cNvPr id="4" name="TextBox 3"/>
          <p:cNvSpPr txBox="1"/>
          <p:nvPr/>
        </p:nvSpPr>
        <p:spPr>
          <a:xfrm>
            <a:off x="914400" y="3749039"/>
            <a:ext cx="10332720" cy="731520"/>
          </a:xfrm>
          <a:prstGeom prst="rect">
            <a:avLst/>
          </a:prstGeom>
          <a:noFill/>
        </p:spPr>
        <p:txBody>
          <a:bodyPr wrap="square">
            <a:spAutoFit/>
          </a:bodyPr>
          <a:lstStyle/>
          <a:p>
            <a:r>
              <a:rPr sz="2400" b="0" i="0">
                <a:solidFill>
                  <a:srgbClr val="E3EAF7"/>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