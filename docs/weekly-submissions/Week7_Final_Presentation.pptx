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 thank you for the time. I'm Peng Fei Xu, presenting TrustResume, an evidence-based resume generation system built on retrieval-augmented generation, multi-agent AI, and an independent trust-verification layer. This is the final presentation for my MSAI 699 capstone. I'll walk through the problem, how the system works, what the data shows, and where it goes from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problem. Generative AI can write a convincing resume in seconds. That part is solved. The problem is nothing stops it from quietly stretching the truth: bumping '2 years' to 'senior', turning a real 64 percent improvement into a rounder 90 percent. That's the easiest way for a model to make a draft look better, so without a check, it happens by default. And the cost isn't abstract: candidates lose credibility, employers make bad hiring decisions, and every legitimate use of AI in hiring gets painted with the same brush. So the question driving this project: can we build a system that generates a strong resume and can prove, claim by claim, that it's true?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is architectural. First, retrieval-augmented generation: instead of inventing a resume, we retrieve the candidate's own documents and ground the draft in that evidence. Second, the key idea: generation and verification are separate agents. The writer never grades its own homework. An independent Trust Harness checks every claim against the evidence, and a resume only ships once it clears a Trust gate and an ATS gate; otherwise the system rewrites, up to three times. The bet this project is built on: it should rather fail a candidate than lie for them. I'll show a real example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architecture. Job Description and Evidence Retrieval each run once. Retrieval uses a hybrid search, part vector similarity, part keyword, so it catches both a paraphrase and an exact product name. Those feed a loop: the Resume Writer drafts, the Trust Harness scores every claim as supported, partially supported, or unsupported, and ATS Evaluation scores keyword coverage. If both clear the bar, we're done; if not, the system builds specific feedback from what failed and tries again, up to three rewrites. A sixth agent, a cached Candidate Profile, feeds the writer without being recomputed every time. This all runs as a graph, LangGraph, which makes the loop and the stopping condition explicit and testable, not buried in ad hoc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engineering choices matter here because they make this deployable, not just a proof of concept. It's provider-agnostic: it runs on AWS Bedrock, OpenAI, or Google Gemini, chosen by configuration, not by rewriting code, so there's no vendor lock-in. Sampling temperature is pinned to zero, because the headline promise is a deterministic, code-computed trust score. If the same resume could score differently on two runs, that promise wouldn't hold. Models are tiered by role: a cheap model handles simple extraction, a stronger one is reserved for writing and for the verifier, the one place skimping actually hurts. And every request is scoped to one user's own data: the isolation boundary the whole trust story depends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know this works, rather than just hoping it does? Two layers. First, a 474-test automated suite at 99.4 percent coverage, checking correctness offline on every change. But correctness isn't quality, so there's a second, separate evaluation harness scoring the system against labeled ground truth: does retrieval surface the right evidence, does the Trust Harness classify claims correctly? That second question matters most, because the score a user sees comes straight from whatever the Harness reports. A verifier that marks everything supported would score perfectly and fail invisibly. So we score the verifier itself, against labeled examples, on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data shows. On the left: retrieval finds the right evidence 100 percent of the time in our labeled test set. The Trust Harness chart is more interesting: the first version of the verifier's instructions only scored 50 percent accuracy, because it said 'be strict' without defining what that meant, so it downgraded almost everything by one notch. Explicit definitions pushed accuracy to over 83 percent, and the dangerous error, something false marked true, stayed at zero the whole time. On the right: four real runs against a production Bedrock model. Three of four fail the quality gate, on purpose. A gate that never says no isn't checking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you to remember. Same candidate, four job postings, run against a real production model. Scenario one is a genuine match: it passes cleanly. Scenario four matters most: an iOS posting for a backend candidate with zero iOS experience. The writer refused to invent any. Trust score: a perfect 100, because every claim was true. ATS score: zero, because the resume matches no required keyword. Trust 100, ATS 0, same résumé. That's not a bug. That's the entire product thesis, visible in two numbers. And scenario three shows the harness earning its keep under pressure: asked for scope beyond the evidence, the writer drifted toward exaggeration, and verification caught every one of those claims before anyone saw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word on the engineering behind this, because it's what makes the last slide's numbers trustworthy rather than lucky. 474 automated tests, over 99 percent coverage, enforced on every change through continuous integration. Every generation is also instrumented: tokens, time, and dollar cost per step, which in practice runs about 32 cents to just over a dollar per résumé. And I'll be candid: several of the most important bugs, like a real model's output crashing the PDF export, or a cost-reporting gap that silently hid Bedrock's real cost, only showed up running the actual system against a real model. No unit test caught them, which is why we kept real end-to-end testing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words on responsible design, since this touches real people's careers. Security: any external text, such as a posting or an uploaded document, is tagged as data, never an instruction, defending against prompt injection. Fairness: the same verification that catches fabrication also protects against a subtler bias: an unchecked generator would favor whichever candidate's background happens to embellish most convincingly. Privacy: every record and search is scoped to one user's own data. And I want to be upfront: the deployed API currently identifies a caller from a self-reported header. That's enough to prove isolation works, but not real authentication. That's the clearest gap before a real multi-tenant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next? First, real authentication and rate limiting, needed before this serves multiple real customers safely. Second, a relevance threshold on retrieval, so a question with no good answer returns fewer results instead of forcing a full set. Third, growing the labeled dataset around the two specific claim types the verifier still occasionally misjudges. And fourth, broader language support on export, plus a clear path to scale beyond a single server. None of this is open research. It's concrete, scoped engineering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three takeaways. One: generation and verification don't have to be the same step trusting itself. Separating them is what makes an AI system's claims checkable, not just plausible. Two: we proved it, not just claimed it. A real model, faced with a job it couldn't honestly match, chose a perfect trust score over inventing experience, and our own evaluation harness caught and let us fix a real flaw in the verifier before it reached a user. Three: this pattern isn't specific to résumés. Any AI system generating content where truthfulness matters can ground it in real evidence and check it independently before anyone sees it. Thank you, and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again for your time. I'd be glad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1463040"/>
          </a:xfrm>
          <a:prstGeom prst="rect">
            <a:avLst/>
          </a:prstGeom>
          <a:noFill/>
        </p:spPr>
        <p:txBody>
          <a:bodyPr wrap="square">
            <a:spAutoFit/>
          </a:bodyPr>
          <a:lstStyle/>
          <a:p>
            <a:r>
              <a:rPr sz="5400" b="1" i="0">
                <a:solidFill>
                  <a:srgbClr val="FFFFFF"/>
                </a:solidFill>
                <a:latin typeface="Calibri"/>
              </a:rPr>
              <a:t>TrustResume</a:t>
            </a:r>
          </a:p>
        </p:txBody>
      </p:sp>
      <p:sp>
        <p:nvSpPr>
          <p:cNvPr id="4" name="TextBox 3"/>
          <p:cNvSpPr txBox="1"/>
          <p:nvPr/>
        </p:nvSpPr>
        <p:spPr>
          <a:xfrm>
            <a:off x="914400" y="3383280"/>
            <a:ext cx="10332720" cy="914400"/>
          </a:xfrm>
          <a:prstGeom prst="rect">
            <a:avLst/>
          </a:prstGeom>
          <a:noFill/>
        </p:spPr>
        <p:txBody>
          <a:bodyPr wrap="square">
            <a:spAutoFit/>
          </a:bodyPr>
          <a:lstStyle/>
          <a:p>
            <a:r>
              <a:rPr sz="2200" b="0" i="0">
                <a:solidFill>
                  <a:srgbClr val="FFFFFF"/>
                </a:solidFill>
                <a:latin typeface="Calibri"/>
              </a:rPr>
              <a:t>Evidence-Based Resume Generation Using RAG, Multi-Agent AI, and Trust Verification</a:t>
            </a:r>
          </a:p>
        </p:txBody>
      </p:sp>
      <p:sp>
        <p:nvSpPr>
          <p:cNvPr id="5" name="TextBox 4"/>
          <p:cNvSpPr txBox="1"/>
          <p:nvPr/>
        </p:nvSpPr>
        <p:spPr>
          <a:xfrm>
            <a:off x="914400" y="5120640"/>
            <a:ext cx="10332720" cy="914400"/>
          </a:xfrm>
          <a:prstGeom prst="rect">
            <a:avLst/>
          </a:prstGeom>
          <a:noFill/>
        </p:spPr>
        <p:txBody>
          <a:bodyPr wrap="square">
            <a:spAutoFit/>
          </a:bodyPr>
          <a:lstStyle/>
          <a:p>
            <a:r>
              <a:rPr sz="1600" b="0" i="0">
                <a:solidFill>
                  <a:srgbClr val="E3EAF7"/>
                </a:solidFill>
                <a:latin typeface="Calibri"/>
              </a:rPr>
              <a:t>Peng Fei Xu  |  MSAI 699 Capstone Final Presentation  |  University of the Cumberlands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DD84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Problem: AI Can Write a Resume. Should You Trust It?</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Generative AI makes it trivial to produce a polished, professional-sounding resume in seconds.</a:t>
            </a:r>
          </a:p>
          <a:p>
            <a:pPr>
              <a:spcAft>
                <a:spcPts val="1400"/>
              </a:spcAft>
            </a:pPr>
            <a:r>
              <a:rPr sz="2000" b="0" i="0">
                <a:solidFill>
                  <a:srgbClr val="2A2A2A"/>
                </a:solidFill>
                <a:latin typeface="Calibri"/>
              </a:rPr>
              <a:t>•  But nothing stops it from quietly overstating scope, seniority, or a metric the candidate's real background doesn't support.</a:t>
            </a:r>
          </a:p>
          <a:p>
            <a:pPr>
              <a:spcAft>
                <a:spcPts val="1400"/>
              </a:spcAft>
            </a:pPr>
            <a:r>
              <a:rPr sz="2000" b="0" i="0">
                <a:solidFill>
                  <a:srgbClr val="2A2A2A"/>
                </a:solidFill>
                <a:latin typeface="Calibri"/>
              </a:rPr>
              <a:t>•  That risk lands on everyone: candidates lose credibility, employers make bad hiring decisions, and every legitimate use of AI in hiring gets tainted by the ones that lie.</a:t>
            </a:r>
          </a:p>
          <a:p>
            <a:pPr>
              <a:spcAft>
                <a:spcPts val="1400"/>
              </a:spcAft>
            </a:pPr>
            <a:r>
              <a:rPr sz="2000" b="0" i="0">
                <a:solidFill>
                  <a:srgbClr val="2A2A2A"/>
                </a:solidFill>
                <a:latin typeface="Calibri"/>
              </a:rPr>
              <a:t>•  The open question this project answers: can an AI system generate a strong resume and prove every claim in it is true?</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Solution: Generate, Then Independently Verify</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TrustResume retrieves a candidate's own documents (resumes, project notes, performance reviews) as grounding evidence. This is retrieval-augmented generation (RAG).</a:t>
            </a:r>
          </a:p>
          <a:p>
            <a:pPr>
              <a:spcAft>
                <a:spcPts val="1400"/>
              </a:spcAft>
            </a:pPr>
            <a:r>
              <a:rPr sz="2000" b="0" i="0">
                <a:solidFill>
                  <a:srgbClr val="2A2A2A"/>
                </a:solidFill>
                <a:latin typeface="Calibri"/>
              </a:rPr>
              <a:t>•  A writer agent drafts the resume from that evidence, but a second, independent agent then checks every claim against it.</a:t>
            </a:r>
          </a:p>
          <a:p>
            <a:pPr>
              <a:spcAft>
                <a:spcPts val="1400"/>
              </a:spcAft>
            </a:pPr>
            <a:r>
              <a:rPr sz="2000" b="0" i="0">
                <a:solidFill>
                  <a:srgbClr val="2A2A2A"/>
                </a:solidFill>
                <a:latin typeface="Calibri"/>
              </a:rPr>
              <a:t>•  A resume only ships if it clears both a Trust gate and an ATS keyword-coverage gate; if it doesn't, the system rewrites and tries again, up to three times.</a:t>
            </a:r>
          </a:p>
          <a:p>
            <a:pPr>
              <a:spcAft>
                <a:spcPts val="1400"/>
              </a:spcAft>
            </a:pPr>
            <a:r>
              <a:rPr sz="2000" b="0" i="0">
                <a:solidFill>
                  <a:srgbClr val="2A2A2A"/>
                </a:solidFill>
                <a:latin typeface="Calibri"/>
              </a:rPr>
              <a:t>•  The core design bet: the system would rather fail a candidate than lie for them. We'll see that proven with a real example later.</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How It Works: Six Agents, One Quality Loop</a:t>
            </a:r>
          </a:p>
        </p:txBody>
      </p:sp>
      <p:pic>
        <p:nvPicPr>
          <p:cNvPr id="5" name="Picture 4" descr="fig1_pipeline.png"/>
          <p:cNvPicPr>
            <a:picLocks noChangeAspect="1"/>
          </p:cNvPicPr>
          <p:nvPr/>
        </p:nvPicPr>
        <p:blipFill>
          <a:blip r:embed="rId2"/>
          <a:stretch>
            <a:fillRect/>
          </a:stretch>
        </p:blipFill>
        <p:spPr>
          <a:xfrm>
            <a:off x="1295247" y="1325880"/>
            <a:ext cx="9601200" cy="4800600"/>
          </a:xfrm>
          <a:prstGeom prst="rect">
            <a:avLst/>
          </a:prstGeom>
        </p:spPr>
      </p:pic>
      <p:sp>
        <p:nvSpPr>
          <p:cNvPr id="6" name="TextBox 5"/>
          <p:cNvSpPr txBox="1"/>
          <p:nvPr/>
        </p:nvSpPr>
        <p:spPr>
          <a:xfrm>
            <a:off x="640080" y="6217920"/>
            <a:ext cx="10911535" cy="457200"/>
          </a:xfrm>
          <a:prstGeom prst="rect">
            <a:avLst/>
          </a:prstGeom>
          <a:noFill/>
        </p:spPr>
        <p:txBody>
          <a:bodyPr wrap="square">
            <a:spAutoFit/>
          </a:bodyPr>
          <a:lstStyle/>
          <a:p>
            <a:pPr algn="ctr"/>
            <a:r>
              <a:rPr sz="1400" b="0" i="1">
                <a:solidFill>
                  <a:srgbClr val="6B6B6B"/>
                </a:solidFill>
                <a:latin typeface="Calibri"/>
              </a:rPr>
              <a:t>Job Description → Evidence Retrieval → Resume Writer ↔ Trust Harness / ATS Evaluation, with a cached Candidate Profile feeding the writer.</a:t>
            </a:r>
          </a:p>
        </p:txBody>
      </p:sp>
      <p:sp>
        <p:nvSpPr>
          <p:cNvPr id="7" name="TextBox 6"/>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Built for Reliability, Not Just a Demo</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LangChain + LangGraph orchestrate every agent and the rewrite loop; ChromaDB + SQLite/FTS5 power hybrid retrieval.</a:t>
            </a:r>
          </a:p>
          <a:p>
            <a:pPr>
              <a:spcAft>
                <a:spcPts val="1400"/>
              </a:spcAft>
            </a:pPr>
            <a:r>
              <a:rPr sz="2000" b="0" i="0">
                <a:solidFill>
                  <a:srgbClr val="2A2A2A"/>
                </a:solidFill>
                <a:latin typeface="Calibri"/>
              </a:rPr>
              <a:t>•  Works with AWS Bedrock, OpenAI, or Google: the LLM provider is a configuration choice, not a code change.</a:t>
            </a:r>
          </a:p>
          <a:p>
            <a:pPr>
              <a:spcAft>
                <a:spcPts val="1400"/>
              </a:spcAft>
            </a:pPr>
            <a:r>
              <a:rPr sz="2000" b="0" i="0">
                <a:solidFill>
                  <a:srgbClr val="2A2A2A"/>
                </a:solidFill>
                <a:latin typeface="Calibri"/>
              </a:rPr>
              <a:t>•  Sampling temperature is pinned to zero: the Trust score is a deterministic, code-computed number, not a re-roll of the dice.</a:t>
            </a:r>
          </a:p>
          <a:p>
            <a:pPr>
              <a:spcAft>
                <a:spcPts val="1400"/>
              </a:spcAft>
            </a:pPr>
            <a:r>
              <a:rPr sz="2000" b="0" i="0">
                <a:solidFill>
                  <a:srgbClr val="2A2A2A"/>
                </a:solidFill>
                <a:latin typeface="Calibri"/>
              </a:rPr>
              <a:t>•  Models are tiered by role: a cheap model fills a form, a stronger one only where it changes what a candidate reads or what gets verified.</a:t>
            </a:r>
          </a:p>
          <a:p>
            <a:pPr>
              <a:spcAft>
                <a:spcPts val="1400"/>
              </a:spcAft>
            </a:pPr>
            <a:r>
              <a:rPr sz="2000" b="0" i="0">
                <a:solidFill>
                  <a:srgbClr val="2A2A2A"/>
                </a:solidFill>
                <a:latin typeface="Calibri"/>
              </a:rPr>
              <a:t>•  Every request is scoped to a specific user's own data: the isolation boundary this whole system depends on.</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How We Know It Works: Measuring, Not Assuming</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An automated test suite (474 tests, 99.4% coverage) checks correctness on every change, offline, with no live model needed.</a:t>
            </a:r>
          </a:p>
          <a:p>
            <a:pPr>
              <a:spcAft>
                <a:spcPts val="1400"/>
              </a:spcAft>
            </a:pPr>
            <a:r>
              <a:rPr sz="2000" b="0" i="0">
                <a:solidFill>
                  <a:srgbClr val="2A2A2A"/>
                </a:solidFill>
                <a:latin typeface="Calibri"/>
              </a:rPr>
              <a:t>•  A separate offline evaluation harness checks quality: does retrieval actually find the right evidence, and does the Trust Harness actually classify claims correctly?</a:t>
            </a:r>
          </a:p>
          <a:p>
            <a:pPr>
              <a:spcAft>
                <a:spcPts val="1400"/>
              </a:spcAft>
            </a:pPr>
            <a:r>
              <a:rPr sz="2000" b="0" i="0">
                <a:solidFill>
                  <a:srgbClr val="2A2A2A"/>
                </a:solidFill>
                <a:latin typeface="Calibri"/>
              </a:rPr>
              <a:t>•  That second check matters because the runtime Trust score is computed from whatever the Trust Harness reports. A harness that rubber-stamps everything would score perfectly and fail invisibly.</a:t>
            </a:r>
          </a:p>
          <a:p>
            <a:pPr>
              <a:spcAft>
                <a:spcPts val="1400"/>
              </a:spcAft>
            </a:pPr>
            <a:r>
              <a:rPr sz="2000" b="0" i="0">
                <a:solidFill>
                  <a:srgbClr val="2A2A2A"/>
                </a:solidFill>
                <a:latin typeface="Calibri"/>
              </a:rPr>
              <a:t>•  Both suites run against hand-labeled ground truth, and the Trust Harness suite is scored against a real, production model, not a stand-in.</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Numbers: Retrieval Finds It, Verification Catches It</a:t>
            </a:r>
          </a:p>
        </p:txBody>
      </p:sp>
      <p:pic>
        <p:nvPicPr>
          <p:cNvPr id="5" name="Picture 4" descr="fig2_results.png"/>
          <p:cNvPicPr>
            <a:picLocks noChangeAspect="1"/>
          </p:cNvPicPr>
          <p:nvPr/>
        </p:nvPicPr>
        <p:blipFill>
          <a:blip r:embed="rId2"/>
          <a:stretch>
            <a:fillRect/>
          </a:stretch>
        </p:blipFill>
        <p:spPr>
          <a:xfrm>
            <a:off x="1295247" y="1325880"/>
            <a:ext cx="9601200" cy="3200400"/>
          </a:xfrm>
          <a:prstGeom prst="rect">
            <a:avLst/>
          </a:prstGeom>
        </p:spPr>
      </p:pic>
      <p:sp>
        <p:nvSpPr>
          <p:cNvPr id="6" name="TextBox 5"/>
          <p:cNvSpPr txBox="1"/>
          <p:nvPr/>
        </p:nvSpPr>
        <p:spPr>
          <a:xfrm>
            <a:off x="640080" y="4617720"/>
            <a:ext cx="10911535" cy="457200"/>
          </a:xfrm>
          <a:prstGeom prst="rect">
            <a:avLst/>
          </a:prstGeom>
          <a:noFill/>
        </p:spPr>
        <p:txBody>
          <a:bodyPr wrap="square">
            <a:spAutoFit/>
          </a:bodyPr>
          <a:lstStyle/>
          <a:p>
            <a:pPr algn="ctr"/>
            <a:r>
              <a:rPr sz="1400" b="0" i="1">
                <a:solidFill>
                  <a:srgbClr val="6B6B6B"/>
                </a:solidFill>
                <a:latin typeface="Calibri"/>
              </a:rPr>
              <a:t>Left: Trust Harness accuracy before/after a calibration fix. Right: Trust/ATS scores from four real generations against a production model.</a:t>
            </a:r>
          </a:p>
        </p:txBody>
      </p:sp>
      <p:sp>
        <p:nvSpPr>
          <p:cNvPr id="7" name="TextBox 6"/>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Proof: It Would Rather Fail Than Lie</a:t>
            </a:r>
          </a:p>
        </p:txBody>
      </p:sp>
      <p:graphicFrame>
        <p:nvGraphicFramePr>
          <p:cNvPr id="5" name="Table 4"/>
          <p:cNvGraphicFramePr>
            <a:graphicFrameLocks noGrp="1"/>
          </p:cNvGraphicFramePr>
          <p:nvPr/>
        </p:nvGraphicFramePr>
        <p:xfrm>
          <a:off x="640080" y="1737360"/>
          <a:ext cx="10911535" cy="2514600"/>
        </p:xfrm>
        <a:graphic>
          <a:graphicData uri="http://schemas.openxmlformats.org/drawingml/2006/table">
            <a:tbl>
              <a:tblPr firstRow="1" bandRow="1">
                <a:tableStyleId>{5C22544A-7EE6-4342-B048-85BDC9FD1C3A}</a:tableStyleId>
              </a:tblPr>
              <a:tblGrid>
                <a:gridCol w="2182307"/>
                <a:gridCol w="2182307"/>
                <a:gridCol w="2182307"/>
                <a:gridCol w="2182307"/>
                <a:gridCol w="2182307"/>
              </a:tblGrid>
              <a:tr h="502920">
                <a:tc>
                  <a:txBody>
                    <a:bodyPr/>
                    <a:lstStyle/>
                    <a:p>
                      <a:r>
                        <a:rPr sz="1600" b="1" i="0">
                          <a:solidFill>
                            <a:srgbClr val="FFFFFF"/>
                          </a:solidFill>
                          <a:latin typeface="Calibri"/>
                        </a:rPr>
                        <a:t>Scenario</a:t>
                      </a:r>
                    </a:p>
                  </a:txBody>
                  <a:tcPr>
                    <a:solidFill>
                      <a:srgbClr val="4C72B0"/>
                    </a:solidFill>
                  </a:tcPr>
                </a:tc>
                <a:tc>
                  <a:txBody>
                    <a:bodyPr/>
                    <a:lstStyle/>
                    <a:p>
                      <a:r>
                        <a:rPr sz="1600" b="1" i="0">
                          <a:solidFill>
                            <a:srgbClr val="FFFFFF"/>
                          </a:solidFill>
                          <a:latin typeface="Calibri"/>
                        </a:rPr>
                        <a:t>Result</a:t>
                      </a:r>
                    </a:p>
                  </a:txBody>
                  <a:tcPr>
                    <a:solidFill>
                      <a:srgbClr val="4C72B0"/>
                    </a:solidFill>
                  </a:tcPr>
                </a:tc>
                <a:tc>
                  <a:txBody>
                    <a:bodyPr/>
                    <a:lstStyle/>
                    <a:p>
                      <a:r>
                        <a:rPr sz="1600" b="1" i="0">
                          <a:solidFill>
                            <a:srgbClr val="FFFFFF"/>
                          </a:solidFill>
                          <a:latin typeface="Calibri"/>
                        </a:rPr>
                        <a:t>Trust</a:t>
                      </a:r>
                    </a:p>
                  </a:txBody>
                  <a:tcPr>
                    <a:solidFill>
                      <a:srgbClr val="4C72B0"/>
                    </a:solidFill>
                  </a:tcPr>
                </a:tc>
                <a:tc>
                  <a:txBody>
                    <a:bodyPr/>
                    <a:lstStyle/>
                    <a:p>
                      <a:r>
                        <a:rPr sz="1600" b="1" i="0">
                          <a:solidFill>
                            <a:srgbClr val="FFFFFF"/>
                          </a:solidFill>
                          <a:latin typeface="Calibri"/>
                        </a:rPr>
                        <a:t>ATS</a:t>
                      </a:r>
                    </a:p>
                  </a:txBody>
                  <a:tcPr>
                    <a:solidFill>
                      <a:srgbClr val="4C72B0"/>
                    </a:solidFill>
                  </a:tcPr>
                </a:tc>
                <a:tc>
                  <a:txBody>
                    <a:bodyPr/>
                    <a:lstStyle/>
                    <a:p>
                      <a:r>
                        <a:rPr sz="1600" b="1" i="0">
                          <a:solidFill>
                            <a:srgbClr val="FFFFFF"/>
                          </a:solidFill>
                          <a:latin typeface="Calibri"/>
                        </a:rPr>
                        <a:t>What happened</a:t>
                      </a:r>
                    </a:p>
                  </a:txBody>
                  <a:tcPr>
                    <a:solidFill>
                      <a:srgbClr val="4C72B0"/>
                    </a:solidFill>
                  </a:tcPr>
                </a:tc>
              </a:tr>
              <a:tr h="502920">
                <a:tc>
                  <a:txBody>
                    <a:bodyPr/>
                    <a:lstStyle/>
                    <a:p>
                      <a:r>
                        <a:rPr sz="1500" b="0" i="0">
                          <a:solidFill>
                            <a:srgbClr val="2A2A2A"/>
                          </a:solidFill>
                          <a:latin typeface="Calibri"/>
                        </a:rPr>
                        <a:t>1. Strong match</a:t>
                      </a:r>
                    </a:p>
                  </a:txBody>
                  <a:tcPr>
                    <a:solidFill>
                      <a:srgbClr val="FFFFFF"/>
                    </a:solidFill>
                  </a:tcPr>
                </a:tc>
                <a:tc>
                  <a:txBody>
                    <a:bodyPr/>
                    <a:lstStyle/>
                    <a:p>
                      <a:r>
                        <a:rPr sz="1500" b="0" i="0">
                          <a:solidFill>
                            <a:srgbClr val="2A2A2A"/>
                          </a:solidFill>
                          <a:latin typeface="Calibri"/>
                        </a:rPr>
                        <a:t>PASS</a:t>
                      </a:r>
                    </a:p>
                  </a:txBody>
                  <a:tcPr>
                    <a:solidFill>
                      <a:srgbClr val="FFFFFF"/>
                    </a:solidFill>
                  </a:tcPr>
                </a:tc>
                <a:tc>
                  <a:txBody>
                    <a:bodyPr/>
                    <a:lstStyle/>
                    <a:p>
                      <a:r>
                        <a:rPr sz="1500" b="0" i="0">
                          <a:solidFill>
                            <a:srgbClr val="2A2A2A"/>
                          </a:solidFill>
                          <a:latin typeface="Calibri"/>
                        </a:rPr>
                        <a:t>94/90</a:t>
                      </a:r>
                    </a:p>
                  </a:txBody>
                  <a:tcPr>
                    <a:solidFill>
                      <a:srgbClr val="FFFFFF"/>
                    </a:solidFill>
                  </a:tcPr>
                </a:tc>
                <a:tc>
                  <a:txBody>
                    <a:bodyPr/>
                    <a:lstStyle/>
                    <a:p>
                      <a:r>
                        <a:rPr sz="1500" b="0" i="0">
                          <a:solidFill>
                            <a:srgbClr val="2A2A2A"/>
                          </a:solidFill>
                          <a:latin typeface="Calibri"/>
                        </a:rPr>
                        <a:t>90/85</a:t>
                      </a:r>
                    </a:p>
                  </a:txBody>
                  <a:tcPr>
                    <a:solidFill>
                      <a:srgbClr val="FFFFFF"/>
                    </a:solidFill>
                  </a:tcPr>
                </a:tc>
                <a:tc>
                  <a:txBody>
                    <a:bodyPr/>
                    <a:lstStyle/>
                    <a:p>
                      <a:r>
                        <a:rPr sz="1500" b="0" i="0">
                          <a:solidFill>
                            <a:srgbClr val="2A2A2A"/>
                          </a:solidFill>
                          <a:latin typeface="Calibri"/>
                        </a:rPr>
                        <a:t>Real overlap; passed on the first draft</a:t>
                      </a:r>
                    </a:p>
                  </a:txBody>
                  <a:tcPr>
                    <a:solidFill>
                      <a:srgbClr val="FFFFFF"/>
                    </a:solidFill>
                  </a:tcPr>
                </a:tc>
              </a:tr>
              <a:tr h="502920">
                <a:tc>
                  <a:txBody>
                    <a:bodyPr/>
                    <a:lstStyle/>
                    <a:p>
                      <a:r>
                        <a:rPr sz="1500" b="0" i="0">
                          <a:solidFill>
                            <a:srgbClr val="2A2A2A"/>
                          </a:solidFill>
                          <a:latin typeface="Calibri"/>
                        </a:rPr>
                        <a:t>2. Partial match</a:t>
                      </a:r>
                    </a:p>
                  </a:txBody>
                  <a:tcPr>
                    <a:solidFill>
                      <a:srgbClr val="F7F9FC"/>
                    </a:solidFill>
                  </a:tcPr>
                </a:tc>
                <a:tc>
                  <a:txBody>
                    <a:bodyPr/>
                    <a:lstStyle/>
                    <a:p>
                      <a:r>
                        <a:rPr sz="1500" b="0" i="0">
                          <a:solidFill>
                            <a:srgbClr val="2A2A2A"/>
                          </a:solidFill>
                          <a:latin typeface="Calibri"/>
                        </a:rPr>
                        <a:t>FAIL</a:t>
                      </a:r>
                    </a:p>
                  </a:txBody>
                  <a:tcPr>
                    <a:solidFill>
                      <a:srgbClr val="F7F9FC"/>
                    </a:solidFill>
                  </a:tcPr>
                </a:tc>
                <a:tc>
                  <a:txBody>
                    <a:bodyPr/>
                    <a:lstStyle/>
                    <a:p>
                      <a:r>
                        <a:rPr sz="1500" b="0" i="0">
                          <a:solidFill>
                            <a:srgbClr val="2A2A2A"/>
                          </a:solidFill>
                          <a:latin typeface="Calibri"/>
                        </a:rPr>
                        <a:t>94/90</a:t>
                      </a:r>
                    </a:p>
                  </a:txBody>
                  <a:tcPr>
                    <a:solidFill>
                      <a:srgbClr val="F7F9FC"/>
                    </a:solidFill>
                  </a:tcPr>
                </a:tc>
                <a:tc>
                  <a:txBody>
                    <a:bodyPr/>
                    <a:lstStyle/>
                    <a:p>
                      <a:r>
                        <a:rPr sz="1500" b="0" i="0">
                          <a:solidFill>
                            <a:srgbClr val="2A2A2A"/>
                          </a:solidFill>
                          <a:latin typeface="Calibri"/>
                        </a:rPr>
                        <a:t>53/85</a:t>
                      </a:r>
                    </a:p>
                  </a:txBody>
                  <a:tcPr>
                    <a:solidFill>
                      <a:srgbClr val="F7F9FC"/>
                    </a:solidFill>
                  </a:tcPr>
                </a:tc>
                <a:tc>
                  <a:txBody>
                    <a:bodyPr/>
                    <a:lstStyle/>
                    <a:p>
                      <a:r>
                        <a:rPr sz="1500" b="0" i="0">
                          <a:solidFill>
                            <a:srgbClr val="2A2A2A"/>
                          </a:solidFill>
                          <a:latin typeface="Calibri"/>
                        </a:rPr>
                        <a:t>Honest gaps: evidence has no domain specifics to invent</a:t>
                      </a:r>
                    </a:p>
                  </a:txBody>
                  <a:tcPr>
                    <a:solidFill>
                      <a:srgbClr val="F7F9FC"/>
                    </a:solidFill>
                  </a:tcPr>
                </a:tc>
              </a:tr>
              <a:tr h="502920">
                <a:tc>
                  <a:txBody>
                    <a:bodyPr/>
                    <a:lstStyle/>
                    <a:p>
                      <a:r>
                        <a:rPr sz="1500" b="0" i="0">
                          <a:solidFill>
                            <a:srgbClr val="2A2A2A"/>
                          </a:solidFill>
                          <a:latin typeface="Calibri"/>
                        </a:rPr>
                        <a:t>3. Inflation pressure</a:t>
                      </a:r>
                    </a:p>
                  </a:txBody>
                  <a:tcPr>
                    <a:solidFill>
                      <a:srgbClr val="FFFFFF"/>
                    </a:solidFill>
                  </a:tcPr>
                </a:tc>
                <a:tc>
                  <a:txBody>
                    <a:bodyPr/>
                    <a:lstStyle/>
                    <a:p>
                      <a:r>
                        <a:rPr sz="1500" b="0" i="0">
                          <a:solidFill>
                            <a:srgbClr val="2A2A2A"/>
                          </a:solidFill>
                          <a:latin typeface="Calibri"/>
                        </a:rPr>
                        <a:t>FAIL</a:t>
                      </a:r>
                    </a:p>
                  </a:txBody>
                  <a:tcPr>
                    <a:solidFill>
                      <a:srgbClr val="FFFFFF"/>
                    </a:solidFill>
                  </a:tcPr>
                </a:tc>
                <a:tc>
                  <a:txBody>
                    <a:bodyPr/>
                    <a:lstStyle/>
                    <a:p>
                      <a:r>
                        <a:rPr sz="1500" b="0" i="0">
                          <a:solidFill>
                            <a:srgbClr val="2A2A2A"/>
                          </a:solidFill>
                          <a:latin typeface="Calibri"/>
                        </a:rPr>
                        <a:t>92/90</a:t>
                      </a:r>
                    </a:p>
                  </a:txBody>
                  <a:tcPr>
                    <a:solidFill>
                      <a:srgbClr val="FFFFFF"/>
                    </a:solidFill>
                  </a:tcPr>
                </a:tc>
                <a:tc>
                  <a:txBody>
                    <a:bodyPr/>
                    <a:lstStyle/>
                    <a:p>
                      <a:r>
                        <a:rPr sz="1500" b="0" i="0">
                          <a:solidFill>
                            <a:srgbClr val="2A2A2A"/>
                          </a:solidFill>
                          <a:latin typeface="Calibri"/>
                        </a:rPr>
                        <a:t>50/85</a:t>
                      </a:r>
                    </a:p>
                  </a:txBody>
                  <a:tcPr>
                    <a:solidFill>
                      <a:srgbClr val="FFFFFF"/>
                    </a:solidFill>
                  </a:tcPr>
                </a:tc>
                <a:tc>
                  <a:txBody>
                    <a:bodyPr/>
                    <a:lstStyle/>
                    <a:p>
                      <a:r>
                        <a:rPr sz="1500" b="0" i="0">
                          <a:solidFill>
                            <a:srgbClr val="2A2A2A"/>
                          </a:solidFill>
                          <a:latin typeface="Calibri"/>
                        </a:rPr>
                        <a:t>Writer drifted toward overstatement; harness caught it</a:t>
                      </a:r>
                    </a:p>
                  </a:txBody>
                  <a:tcPr>
                    <a:solidFill>
                      <a:srgbClr val="FFFFFF"/>
                    </a:solidFill>
                  </a:tcPr>
                </a:tc>
              </a:tr>
              <a:tr h="502920">
                <a:tc>
                  <a:txBody>
                    <a:bodyPr/>
                    <a:lstStyle/>
                    <a:p>
                      <a:r>
                        <a:rPr sz="1500" b="0" i="0">
                          <a:solidFill>
                            <a:srgbClr val="2A2A2A"/>
                          </a:solidFill>
                          <a:latin typeface="Calibri"/>
                        </a:rPr>
                        <a:t>4. Wrong domain</a:t>
                      </a:r>
                    </a:p>
                  </a:txBody>
                  <a:tcPr>
                    <a:solidFill>
                      <a:srgbClr val="F7F9FC"/>
                    </a:solidFill>
                  </a:tcPr>
                </a:tc>
                <a:tc>
                  <a:txBody>
                    <a:bodyPr/>
                    <a:lstStyle/>
                    <a:p>
                      <a:r>
                        <a:rPr sz="1500" b="0" i="0">
                          <a:solidFill>
                            <a:srgbClr val="2A2A2A"/>
                          </a:solidFill>
                          <a:latin typeface="Calibri"/>
                        </a:rPr>
                        <a:t>FAIL</a:t>
                      </a:r>
                    </a:p>
                  </a:txBody>
                  <a:tcPr>
                    <a:solidFill>
                      <a:srgbClr val="F7F9FC"/>
                    </a:solidFill>
                  </a:tcPr>
                </a:tc>
                <a:tc>
                  <a:txBody>
                    <a:bodyPr/>
                    <a:lstStyle/>
                    <a:p>
                      <a:r>
                        <a:rPr sz="1500" b="0" i="0">
                          <a:solidFill>
                            <a:srgbClr val="2A2A2A"/>
                          </a:solidFill>
                          <a:latin typeface="Calibri"/>
                        </a:rPr>
                        <a:t>100/90</a:t>
                      </a:r>
                    </a:p>
                  </a:txBody>
                  <a:tcPr>
                    <a:solidFill>
                      <a:srgbClr val="F7F9FC"/>
                    </a:solidFill>
                  </a:tcPr>
                </a:tc>
                <a:tc>
                  <a:txBody>
                    <a:bodyPr/>
                    <a:lstStyle/>
                    <a:p>
                      <a:r>
                        <a:rPr sz="1500" b="0" i="0">
                          <a:solidFill>
                            <a:srgbClr val="2A2A2A"/>
                          </a:solidFill>
                          <a:latin typeface="Calibri"/>
                        </a:rPr>
                        <a:t>0/85</a:t>
                      </a:r>
                    </a:p>
                  </a:txBody>
                  <a:tcPr>
                    <a:solidFill>
                      <a:srgbClr val="F7F9FC"/>
                    </a:solidFill>
                  </a:tcPr>
                </a:tc>
                <a:tc>
                  <a:txBody>
                    <a:bodyPr/>
                    <a:lstStyle/>
                    <a:p>
                      <a:r>
                        <a:rPr sz="1500" b="0" i="0">
                          <a:solidFill>
                            <a:srgbClr val="2A2A2A"/>
                          </a:solidFill>
                          <a:latin typeface="Calibri"/>
                        </a:rPr>
                        <a:t>Writer refused to invent experience; every claim true</a:t>
                      </a:r>
                    </a:p>
                  </a:txBody>
                  <a:tcPr>
                    <a:solidFill>
                      <a:srgbClr val="F7F9FC"/>
                    </a:solidFill>
                  </a:tcPr>
                </a:tc>
              </a:tr>
            </a:tbl>
          </a:graphicData>
        </a:graphic>
      </p:graphicFrame>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Quality Engineering Behind the Scenes</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474 automated tests, 99.4% coverage, enforced on every code change via continuous integration.</a:t>
            </a:r>
          </a:p>
          <a:p>
            <a:pPr>
              <a:spcAft>
                <a:spcPts val="1400"/>
              </a:spcAft>
            </a:pPr>
            <a:r>
              <a:rPr sz="2000" b="0" i="0">
                <a:solidFill>
                  <a:srgbClr val="2A2A2A"/>
                </a:solidFill>
                <a:latin typeface="Calibri"/>
              </a:rPr>
              <a:t>•  Every generation is measured: tokens, latency, and dollar cost, broken down per step, so there's no more guessing what a run costs.</a:t>
            </a:r>
          </a:p>
          <a:p>
            <a:pPr>
              <a:spcAft>
                <a:spcPts val="1400"/>
              </a:spcAft>
            </a:pPr>
            <a:r>
              <a:rPr sz="2000" b="0" i="0">
                <a:solidFill>
                  <a:srgbClr val="2A2A2A"/>
                </a:solidFill>
                <a:latin typeface="Calibri"/>
              </a:rPr>
              <a:t>•  Real-world cost: roughly $0.32 to $1.07 per résumé, across four to ten model calls depending on how many rewrites it takes.</a:t>
            </a:r>
          </a:p>
          <a:p>
            <a:pPr>
              <a:spcAft>
                <a:spcPts val="1400"/>
              </a:spcAft>
            </a:pPr>
            <a:r>
              <a:rPr sz="2000" b="0" i="0">
                <a:solidFill>
                  <a:srgbClr val="2A2A2A"/>
                </a:solidFill>
                <a:latin typeface="Calibri"/>
              </a:rPr>
              <a:t>•  Several of the most important bugs only showed up when the real system ran end to end, not in a unit test, which is why we kept real, live testing in the process, not just fast offline checks.</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Responsible by Design</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Security: every piece of external text, such as a job posting or an uploaded document, is clearly marked as data, not instructions, defending against prompt injection.</a:t>
            </a:r>
          </a:p>
          <a:p>
            <a:pPr>
              <a:spcAft>
                <a:spcPts val="1400"/>
              </a:spcAft>
            </a:pPr>
            <a:r>
              <a:rPr sz="2000" b="0" i="0">
                <a:solidFill>
                  <a:srgbClr val="2A2A2A"/>
                </a:solidFill>
                <a:latin typeface="Calibri"/>
              </a:rPr>
              <a:t>•  Fairness: the same verification that catches fabrication also prevents the system from rewarding whichever candidate's background happens to embellish best.</a:t>
            </a:r>
          </a:p>
          <a:p>
            <a:pPr>
              <a:spcAft>
                <a:spcPts val="1400"/>
              </a:spcAft>
            </a:pPr>
            <a:r>
              <a:rPr sz="2000" b="0" i="0">
                <a:solidFill>
                  <a:srgbClr val="2A2A2A"/>
                </a:solidFill>
                <a:latin typeface="Calibri"/>
              </a:rPr>
              <a:t>•  Privacy: every record is isolated per user and filtered server-side on every search.</a:t>
            </a:r>
          </a:p>
          <a:p>
            <a:pPr>
              <a:spcAft>
                <a:spcPts val="1400"/>
              </a:spcAft>
            </a:pPr>
            <a:r>
              <a:rPr sz="2000" b="0" i="0">
                <a:solidFill>
                  <a:srgbClr val="2A2A2A"/>
                </a:solidFill>
                <a:latin typeface="Calibri"/>
              </a:rPr>
              <a:t>•  Known gap: the deployed API identifies a caller from a self-reported header. Real authentication is on the roadmap, not yet built.</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What's Next</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Real authentication and rate limiting for multi-tenant production use.</a:t>
            </a:r>
          </a:p>
          <a:p>
            <a:pPr>
              <a:spcAft>
                <a:spcPts val="1400"/>
              </a:spcAft>
            </a:pPr>
            <a:r>
              <a:rPr sz="2000" b="0" i="0">
                <a:solidFill>
                  <a:srgbClr val="2A2A2A"/>
                </a:solidFill>
                <a:latin typeface="Calibri"/>
              </a:rPr>
              <a:t>•  A relevance threshold on retrieval, so a question with no good answer returns less, not a forced full set of results.</a:t>
            </a:r>
          </a:p>
          <a:p>
            <a:pPr>
              <a:spcAft>
                <a:spcPts val="1400"/>
              </a:spcAft>
            </a:pPr>
            <a:r>
              <a:rPr sz="2000" b="0" i="0">
                <a:solidFill>
                  <a:srgbClr val="2A2A2A"/>
                </a:solidFill>
                <a:latin typeface="Calibri"/>
              </a:rPr>
              <a:t>•  A larger labeled dataset targeting the two claim types the verifier still occasionally misjudges.</a:t>
            </a:r>
          </a:p>
          <a:p>
            <a:pPr>
              <a:spcAft>
                <a:spcPts val="1400"/>
              </a:spcAft>
            </a:pPr>
            <a:r>
              <a:rPr sz="2000" b="0" i="0">
                <a:solidFill>
                  <a:srgbClr val="2A2A2A"/>
                </a:solidFill>
                <a:latin typeface="Calibri"/>
              </a:rPr>
              <a:t>•  Broader language support for exported résumés, and a clear path to scale past a single server as demand grows.</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DD84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Key Takeaways</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AI can generate content and independently verify it: generation and verification don't have to be the same step trusting itself.</a:t>
            </a:r>
          </a:p>
          <a:p>
            <a:pPr>
              <a:spcAft>
                <a:spcPts val="1400"/>
              </a:spcAft>
            </a:pPr>
            <a:r>
              <a:rPr sz="2000" b="0" i="0">
                <a:solidFill>
                  <a:srgbClr val="2A2A2A"/>
                </a:solidFill>
                <a:latin typeface="Calibri"/>
              </a:rPr>
              <a:t>•  We proved it empirically: a real production model, given a job it couldn't honestly match, chose a perfect trust score over a fabricated resume.</a:t>
            </a:r>
          </a:p>
          <a:p>
            <a:pPr>
              <a:spcAft>
                <a:spcPts val="1400"/>
              </a:spcAft>
            </a:pPr>
            <a:r>
              <a:rPr sz="2000" b="0" i="0">
                <a:solidFill>
                  <a:srgbClr val="2A2A2A"/>
                </a:solidFill>
                <a:latin typeface="Calibri"/>
              </a:rPr>
              <a:t>•  Quality is measured, not assumed: an evaluation harness caught a real flaw in our own verifier, and we fixed it using the same discipline.</a:t>
            </a:r>
          </a:p>
          <a:p>
            <a:pPr>
              <a:spcAft>
                <a:spcPts val="1400"/>
              </a:spcAft>
            </a:pPr>
            <a:r>
              <a:rPr sz="2000" b="0" i="0">
                <a:solidFill>
                  <a:srgbClr val="2A2A2A"/>
                </a:solidFill>
                <a:latin typeface="Calibri"/>
              </a:rPr>
              <a:t>•  This pattern, grounded generation plus independent verification, generalizes well beyond résumés, to any AI-generated content where truthfulness matters.</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651760"/>
            <a:ext cx="10332720" cy="1097280"/>
          </a:xfrm>
          <a:prstGeom prst="rect">
            <a:avLst/>
          </a:prstGeom>
          <a:noFill/>
        </p:spPr>
        <p:txBody>
          <a:bodyPr wrap="square">
            <a:spAutoFit/>
          </a:bodyPr>
          <a:lstStyle/>
          <a:p>
            <a:r>
              <a:rPr sz="4800" b="1" i="0">
                <a:solidFill>
                  <a:srgbClr val="FFFFFF"/>
                </a:solidFill>
                <a:latin typeface="Calibri"/>
              </a:rPr>
              <a:t>Thank You</a:t>
            </a:r>
          </a:p>
        </p:txBody>
      </p:sp>
      <p:sp>
        <p:nvSpPr>
          <p:cNvPr id="4" name="TextBox 3"/>
          <p:cNvSpPr txBox="1"/>
          <p:nvPr/>
        </p:nvSpPr>
        <p:spPr>
          <a:xfrm>
            <a:off x="914400" y="3749039"/>
            <a:ext cx="10332720" cy="731520"/>
          </a:xfrm>
          <a:prstGeom prst="rect">
            <a:avLst/>
          </a:prstGeom>
          <a:noFill/>
        </p:spPr>
        <p:txBody>
          <a:bodyPr wrap="square">
            <a:spAutoFit/>
          </a:bodyPr>
          <a:lstStyle/>
          <a:p>
            <a:r>
              <a:rPr sz="2400" b="0" i="0">
                <a:solidFill>
                  <a:srgbClr val="E3EAF7"/>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