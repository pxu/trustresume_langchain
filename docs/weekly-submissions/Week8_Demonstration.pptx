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Peng Fei Xu. This is the Week 8 demonstration of TrustResume. Everything you're about to see is the live application running against a real production model — not slides, not a mock-up. In one sentence: TrustResume generates a resume grounded in the candidate's own documents, and then an independent agent checks every claim against that evidence before any score is shown to anyone.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idea before we open the app. Generative AI writing a convincing resume is a solved problem — the hard part is trust. Nothing stops a model from quietly stretching the truth to make a draft look better. So TrustResume splits generation from verification into two separate agents. The writer drafts from the candidate's real documents; an independent Trust Harness then checks every single claim against that evidence. The writer never scores itself. The bet the whole project rests on is that the system should rather fail a candidate than lie for them — and I'll show that happening on a real run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for the next few minutes. Four tabs. First, Documents: I'll upload a résumé and you'll see it ingested — parsed, chunked, embedded — into an evidence store scoped to just this user. Second, Jobs: a job here is a saved entity; the posting is extracted once and reused, so we're not re-parsing it every run. Third, Generate: this kicks off the pipeline — hybrid vector-plus-keyword retrieval, the Writer drafting from evidence, the Trust Harness checking each claim, and ATS keyword scoring. It always rewrites at least once more and keeps whichever draft actually scored best, not the first that passed. Finally the result: the real scores, the gaps, any flagged claims, and an actual exportable document.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 one architecture slide so the demo makes sense. The Streamlit UI talks over HTTP to a FastAPI backend, which drives a LangGraph orchestrator. The orchestrator sequences the agents: Job Description and Evidence Retrieval run once, then a loop of Resume Writer, Trust Harness, and ATS Evaluation, with a cached Candidate Profile feeding the writer. Retrieval is hybrid — part vector similarity for paraphrases, part keyword search for exact product names — over a Chroma vector store plus SQLite full-text search, everything filtered to one user's own data. That's the isolation boundary the trust story depends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 switching to the live app now. This is the real system against a real Bedrock model. I'll walk through Documents, Jobs, and a generation, and then we'll look at what came 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I run this, here's the one moment I want you to watch for. When a candidate's evidence doesn't actually match the job, a naive generator would just invent the missing experience to score higher. This system won't. You'll see it produce a high Trust score — because every claim it made is genuinely supported — right next to a low ATS score, because the résumé honestly doesn't match the posting's keywords. Trust high, ATS low, on the very same résumé. That's not a failure of the system; that is the system working exactly as designed. And when a run doesn't clear the quality gate, we show it anyway, labeled plainly — never hidden, never quietly upgraded.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separating the agent that writes from the agent that checks is what makes this trustworthy rather than merely plausible — and you just watched a real run choose an honest, capped result over a flattering, fabricated one. That's the whole point. Thank you —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280160"/>
          </a:xfrm>
          <a:prstGeom prst="rect">
            <a:avLst/>
          </a:prstGeom>
          <a:noFill/>
        </p:spPr>
        <p:txBody>
          <a:bodyPr wrap="square">
            <a:spAutoFit/>
          </a:bodyPr>
          <a:lstStyle/>
          <a:p>
            <a:r>
              <a:rPr sz="4800" b="1" i="0">
                <a:solidFill>
                  <a:srgbClr val="FFFFFF"/>
                </a:solidFill>
                <a:latin typeface="Calibri"/>
              </a:rPr>
              <a:t>TrustResume — Live Demonstration</a:t>
            </a:r>
          </a:p>
        </p:txBody>
      </p:sp>
      <p:sp>
        <p:nvSpPr>
          <p:cNvPr id="4" name="TextBox 3"/>
          <p:cNvSpPr txBox="1"/>
          <p:nvPr/>
        </p:nvSpPr>
        <p:spPr>
          <a:xfrm>
            <a:off x="914400" y="3383280"/>
            <a:ext cx="10332720" cy="914400"/>
          </a:xfrm>
          <a:prstGeom prst="rect">
            <a:avLst/>
          </a:prstGeom>
          <a:noFill/>
        </p:spPr>
        <p:txBody>
          <a:bodyPr wrap="square">
            <a:spAutoFit/>
          </a:bodyPr>
          <a:lstStyle/>
          <a:p>
            <a:r>
              <a:rPr sz="2200" b="0" i="0">
                <a:solidFill>
                  <a:srgbClr val="FFFFFF"/>
                </a:solidFill>
                <a:latin typeface="Calibri"/>
              </a:rPr>
              <a:t>Evidence-based resume generation that would rather fail than lie</a:t>
            </a:r>
          </a:p>
        </p:txBody>
      </p:sp>
      <p:sp>
        <p:nvSpPr>
          <p:cNvPr id="5" name="TextBox 4"/>
          <p:cNvSpPr txBox="1"/>
          <p:nvPr/>
        </p:nvSpPr>
        <p:spPr>
          <a:xfrm>
            <a:off x="914400" y="5212080"/>
            <a:ext cx="10332720" cy="914400"/>
          </a:xfrm>
          <a:prstGeom prst="rect">
            <a:avLst/>
          </a:prstGeom>
          <a:noFill/>
        </p:spPr>
        <p:txBody>
          <a:bodyPr wrap="square">
            <a:spAutoFit/>
          </a:bodyPr>
          <a:lstStyle/>
          <a:p>
            <a:r>
              <a:rPr sz="1600" b="0" i="0">
                <a:solidFill>
                  <a:srgbClr val="E3EAF7"/>
                </a:solidFill>
                <a:latin typeface="Calibri"/>
              </a:rPr>
              <a:t>Peng Fei Xu  |  MSAI 699 Capstone — Week 8: Project Demonstration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DD8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The Idea in One Sentence</a:t>
            </a:r>
          </a:p>
        </p:txBody>
      </p:sp>
      <p:sp>
        <p:nvSpPr>
          <p:cNvPr id="5" name="TextBox 4"/>
          <p:cNvSpPr txBox="1"/>
          <p:nvPr/>
        </p:nvSpPr>
        <p:spPr>
          <a:xfrm>
            <a:off x="640080" y="1463040"/>
            <a:ext cx="10911535" cy="4846320"/>
          </a:xfrm>
          <a:prstGeom prst="rect">
            <a:avLst/>
          </a:prstGeom>
          <a:noFill/>
        </p:spPr>
        <p:txBody>
          <a:bodyPr wrap="square">
            <a:spAutoFit/>
          </a:bodyPr>
          <a:lstStyle/>
          <a:p>
            <a:pPr>
              <a:spcAft>
                <a:spcPts val="1600"/>
              </a:spcAft>
            </a:pPr>
            <a:r>
              <a:rPr sz="2200" b="0" i="0">
                <a:solidFill>
                  <a:srgbClr val="2A2A2A"/>
                </a:solidFill>
                <a:latin typeface="Calibri"/>
              </a:rPr>
              <a:t>•  AI can write a polished resume in seconds — and just as easily overstate scope, seniority, or a metric the evidence doesn't support.</a:t>
            </a:r>
          </a:p>
          <a:p>
            <a:pPr>
              <a:spcAft>
                <a:spcPts val="1600"/>
              </a:spcAft>
            </a:pPr>
            <a:r>
              <a:rPr sz="2200" b="0" i="0">
                <a:solidFill>
                  <a:srgbClr val="2A2A2A"/>
                </a:solidFill>
                <a:latin typeface="Calibri"/>
              </a:rPr>
              <a:t>•  TrustResume splits the job in two: a Writer agent drafts from the candidate's own documents; an independent Trust Harness then checks every claim against that same evidence.</a:t>
            </a:r>
          </a:p>
          <a:p>
            <a:pPr>
              <a:spcAft>
                <a:spcPts val="1600"/>
              </a:spcAft>
            </a:pPr>
            <a:r>
              <a:rPr sz="2200" b="0" i="0">
                <a:solidFill>
                  <a:srgbClr val="2A2A2A"/>
                </a:solidFill>
                <a:latin typeface="Calibri"/>
              </a:rPr>
              <a:t>•  The writer never grades its own homework — that separation is what makes a claim checkable, not just plausible.</a:t>
            </a:r>
          </a:p>
          <a:p>
            <a:pPr>
              <a:spcAft>
                <a:spcPts val="1600"/>
              </a:spcAft>
            </a:pPr>
            <a:r>
              <a:rPr sz="2200" b="0" i="0">
                <a:solidFill>
                  <a:srgbClr val="2A2A2A"/>
                </a:solidFill>
                <a:latin typeface="Calibri"/>
              </a:rPr>
              <a:t>•  The design bet you'll see proven live: the system would rather fail a candidate than lie for them.</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 Week 8 Demonstration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What You'll See in This Demo</a:t>
            </a:r>
          </a:p>
        </p:txBody>
      </p:sp>
      <p:sp>
        <p:nvSpPr>
          <p:cNvPr id="5" name="TextBox 4"/>
          <p:cNvSpPr txBox="1"/>
          <p:nvPr/>
        </p:nvSpPr>
        <p:spPr>
          <a:xfrm>
            <a:off x="640080" y="1463040"/>
            <a:ext cx="10911535" cy="4846320"/>
          </a:xfrm>
          <a:prstGeom prst="rect">
            <a:avLst/>
          </a:prstGeom>
          <a:noFill/>
        </p:spPr>
        <p:txBody>
          <a:bodyPr wrap="square">
            <a:spAutoFit/>
          </a:bodyPr>
          <a:lstStyle/>
          <a:p>
            <a:pPr>
              <a:spcAft>
                <a:spcPts val="1600"/>
              </a:spcAft>
            </a:pPr>
            <a:r>
              <a:rPr sz="2200" b="0" i="0">
                <a:solidFill>
                  <a:srgbClr val="2A2A2A"/>
                </a:solidFill>
                <a:latin typeface="Calibri"/>
              </a:rPr>
              <a:t>•  Documents — upload a résumé; it's parsed, chunked, and embedded into the candidate's private, user-scoped evidence store.</a:t>
            </a:r>
          </a:p>
          <a:p>
            <a:pPr>
              <a:spcAft>
                <a:spcPts val="1600"/>
              </a:spcAft>
            </a:pPr>
            <a:r>
              <a:rPr sz="2200" b="0" i="0">
                <a:solidFill>
                  <a:srgbClr val="2A2A2A"/>
                </a:solidFill>
                <a:latin typeface="Calibri"/>
              </a:rPr>
              <a:t>•  Jobs — a job is a persisted entity: extract the posting once, then reuse that extraction for every generation against it.</a:t>
            </a:r>
          </a:p>
          <a:p>
            <a:pPr>
              <a:spcAft>
                <a:spcPts val="1600"/>
              </a:spcAft>
            </a:pPr>
            <a:r>
              <a:rPr sz="2200" b="0" i="0">
                <a:solidFill>
                  <a:srgbClr val="2A2A2A"/>
                </a:solidFill>
                <a:latin typeface="Calibri"/>
              </a:rPr>
              <a:t>•  Generate — hybrid retrieval → Writer → Trust Harness → ATS scoring, always rewriting at least once and keeping the best-scoring draft.</a:t>
            </a:r>
          </a:p>
          <a:p>
            <a:pPr>
              <a:spcAft>
                <a:spcPts val="1600"/>
              </a:spcAft>
            </a:pPr>
            <a:r>
              <a:rPr sz="2200" b="0" i="0">
                <a:solidFill>
                  <a:srgbClr val="2A2A2A"/>
                </a:solidFill>
                <a:latin typeface="Calibri"/>
              </a:rPr>
              <a:t>•  The result — real Trust and ATS scores, missing keywords, flagged claims, and a downloadable PDF/Markdown résumé.</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 Week 8 Demonstration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Under the Hood: Six Agents, One Quality Loop</a:t>
            </a:r>
          </a:p>
        </p:txBody>
      </p:sp>
      <p:pic>
        <p:nvPicPr>
          <p:cNvPr id="5" name="Picture 4" descr="01_system_overview.png"/>
          <p:cNvPicPr>
            <a:picLocks noChangeAspect="1"/>
          </p:cNvPicPr>
          <p:nvPr/>
        </p:nvPicPr>
        <p:blipFill>
          <a:blip r:embed="rId2"/>
          <a:stretch>
            <a:fillRect/>
          </a:stretch>
        </p:blipFill>
        <p:spPr>
          <a:xfrm>
            <a:off x="1158087" y="1325880"/>
            <a:ext cx="9875520" cy="7559218"/>
          </a:xfrm>
          <a:prstGeom prst="rect">
            <a:avLst/>
          </a:prstGeom>
        </p:spPr>
      </p:pic>
      <p:sp>
        <p:nvSpPr>
          <p:cNvPr id="6" name="TextBox 5"/>
          <p:cNvSpPr txBox="1"/>
          <p:nvPr/>
        </p:nvSpPr>
        <p:spPr>
          <a:xfrm>
            <a:off x="640080" y="8976538"/>
            <a:ext cx="10911535" cy="457200"/>
          </a:xfrm>
          <a:prstGeom prst="rect">
            <a:avLst/>
          </a:prstGeom>
          <a:noFill/>
        </p:spPr>
        <p:txBody>
          <a:bodyPr wrap="square">
            <a:spAutoFit/>
          </a:bodyPr>
          <a:lstStyle/>
          <a:p>
            <a:pPr algn="ctr"/>
            <a:r>
              <a:rPr sz="1400" b="0" i="1">
                <a:solidFill>
                  <a:srgbClr val="6B6B6B"/>
                </a:solidFill>
                <a:latin typeface="Calibri"/>
              </a:rPr>
              <a:t>Streamlit UI → FastAPI → LangGraph orchestrator driving the agents over a hybrid Chroma + SQLite/FTS5 evidence store.</a:t>
            </a:r>
          </a:p>
        </p:txBody>
      </p:sp>
      <p:sp>
        <p:nvSpPr>
          <p:cNvPr id="7" name="TextBox 6"/>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 Week 8 Demonstration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640080"/>
          </a:xfrm>
          <a:prstGeom prst="rect">
            <a:avLst/>
          </a:prstGeom>
          <a:noFill/>
        </p:spPr>
        <p:txBody>
          <a:bodyPr wrap="square">
            <a:spAutoFit/>
          </a:bodyPr>
          <a:lstStyle/>
          <a:p>
            <a:r>
              <a:rPr sz="2200" b="1" i="0">
                <a:solidFill>
                  <a:srgbClr val="DD8452"/>
                </a:solidFill>
                <a:latin typeface="Calibri"/>
              </a:rPr>
              <a:t>LIVE DEMO</a:t>
            </a:r>
          </a:p>
        </p:txBody>
      </p:sp>
      <p:sp>
        <p:nvSpPr>
          <p:cNvPr id="4" name="TextBox 3"/>
          <p:cNvSpPr txBox="1"/>
          <p:nvPr/>
        </p:nvSpPr>
        <p:spPr>
          <a:xfrm>
            <a:off x="914400" y="3017520"/>
            <a:ext cx="10332720" cy="1280160"/>
          </a:xfrm>
          <a:prstGeom prst="rect">
            <a:avLst/>
          </a:prstGeom>
          <a:noFill/>
        </p:spPr>
        <p:txBody>
          <a:bodyPr wrap="square">
            <a:spAutoFit/>
          </a:bodyPr>
          <a:lstStyle/>
          <a:p>
            <a:r>
              <a:rPr sz="4600" b="1" i="0">
                <a:solidFill>
                  <a:srgbClr val="FFFFFF"/>
                </a:solidFill>
                <a:latin typeface="Calibri"/>
              </a:rPr>
              <a:t>Switching to the running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3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The Moment to Watch For</a:t>
            </a:r>
          </a:p>
        </p:txBody>
      </p:sp>
      <p:sp>
        <p:nvSpPr>
          <p:cNvPr id="5" name="TextBox 4"/>
          <p:cNvSpPr txBox="1"/>
          <p:nvPr/>
        </p:nvSpPr>
        <p:spPr>
          <a:xfrm>
            <a:off x="640080" y="1463040"/>
            <a:ext cx="10911535" cy="4846320"/>
          </a:xfrm>
          <a:prstGeom prst="rect">
            <a:avLst/>
          </a:prstGeom>
          <a:noFill/>
        </p:spPr>
        <p:txBody>
          <a:bodyPr wrap="square">
            <a:spAutoFit/>
          </a:bodyPr>
          <a:lstStyle/>
          <a:p>
            <a:pPr>
              <a:spcAft>
                <a:spcPts val="1600"/>
              </a:spcAft>
            </a:pPr>
            <a:r>
              <a:rPr sz="2200" b="0" i="0">
                <a:solidFill>
                  <a:srgbClr val="2A2A2A"/>
                </a:solidFill>
                <a:latin typeface="Calibri"/>
              </a:rPr>
              <a:t>•  When the evidence doesn't match the job, the Writer does NOT invent experience to close the gap.</a:t>
            </a:r>
          </a:p>
          <a:p>
            <a:pPr>
              <a:spcAft>
                <a:spcPts val="1600"/>
              </a:spcAft>
            </a:pPr>
            <a:r>
              <a:rPr sz="2200" b="0" i="0">
                <a:solidFill>
                  <a:srgbClr val="2A2A2A"/>
                </a:solidFill>
                <a:latin typeface="Calibri"/>
              </a:rPr>
              <a:t>•  Instead: a high Trust score (every claim is true) alongside a low ATS score (the résumé honestly doesn't match the posting).</a:t>
            </a:r>
          </a:p>
          <a:p>
            <a:pPr>
              <a:spcAft>
                <a:spcPts val="1600"/>
              </a:spcAft>
            </a:pPr>
            <a:r>
              <a:rPr sz="2200" b="0" i="0">
                <a:solidFill>
                  <a:srgbClr val="2A2A2A"/>
                </a:solidFill>
                <a:latin typeface="Calibri"/>
              </a:rPr>
              <a:t>•  Trust 100 / ATS 0 on the same résumé isn't a bug — it's the entire product thesis, visible in two numbers.</a:t>
            </a:r>
          </a:p>
          <a:p>
            <a:pPr>
              <a:spcAft>
                <a:spcPts val="1600"/>
              </a:spcAft>
            </a:pPr>
            <a:r>
              <a:rPr sz="2200" b="0" i="0">
                <a:solidFill>
                  <a:srgbClr val="2A2A2A"/>
                </a:solidFill>
                <a:latin typeface="Calibri"/>
              </a:rPr>
              <a:t>•  A run that doesn't pass is shown anyway, labeled honestly, never hidden or silently upgraded.</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 Week 8 Demonstration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097280"/>
          </a:xfrm>
          <a:prstGeom prst="rect">
            <a:avLst/>
          </a:prstGeom>
          <a:noFill/>
        </p:spPr>
        <p:txBody>
          <a:bodyPr wrap="square">
            <a:spAutoFit/>
          </a:bodyPr>
          <a:lstStyle/>
          <a:p>
            <a:r>
              <a:rPr sz="4000" b="1" i="0">
                <a:solidFill>
                  <a:srgbClr val="FFFFFF"/>
                </a:solidFill>
                <a:latin typeface="Calibri"/>
              </a:rPr>
              <a:t>Grounded, then independently verified</a:t>
            </a:r>
          </a:p>
        </p:txBody>
      </p:sp>
      <p:sp>
        <p:nvSpPr>
          <p:cNvPr id="4" name="TextBox 3"/>
          <p:cNvSpPr txBox="1"/>
          <p:nvPr/>
        </p:nvSpPr>
        <p:spPr>
          <a:xfrm>
            <a:off x="914400" y="3474720"/>
            <a:ext cx="10332720" cy="1463040"/>
          </a:xfrm>
          <a:prstGeom prst="rect">
            <a:avLst/>
          </a:prstGeom>
          <a:noFill/>
        </p:spPr>
        <p:txBody>
          <a:bodyPr wrap="square">
            <a:spAutoFit/>
          </a:bodyPr>
          <a:lstStyle/>
          <a:p>
            <a:r>
              <a:rPr sz="2000" b="0" i="0">
                <a:solidFill>
                  <a:srgbClr val="E3EAF7"/>
                </a:solidFill>
                <a:latin typeface="Calibri"/>
              </a:rPr>
              <a:t>Separating the agent that writes from the agent that checks is what makes this trustworthy rather than merely plausible — and you just saw it choose an honest result over a flattering, fabricated one.</a:t>
            </a:r>
          </a:p>
        </p:txBody>
      </p:sp>
      <p:sp>
        <p:nvSpPr>
          <p:cNvPr id="5" name="TextBox 4"/>
          <p:cNvSpPr txBox="1"/>
          <p:nvPr/>
        </p:nvSpPr>
        <p:spPr>
          <a:xfrm>
            <a:off x="914400" y="5394960"/>
            <a:ext cx="10332720" cy="731520"/>
          </a:xfrm>
          <a:prstGeom prst="rect">
            <a:avLst/>
          </a:prstGeom>
          <a:noFill/>
        </p:spPr>
        <p:txBody>
          <a:bodyPr wrap="square">
            <a:spAutoFit/>
          </a:bodyPr>
          <a:lstStyle/>
          <a:p>
            <a:r>
              <a:rPr sz="2200" b="1" i="0">
                <a:solidFill>
                  <a:srgbClr val="FFFFFF"/>
                </a:solidFill>
                <a:latin typeface="Calibri"/>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